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0688638" cy="15124113"/>
  <p:notesSz cx="15124113" cy="1068863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656" y="-2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500125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STER_A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" y="109728"/>
            <a:ext cx="10469880" cy="14904720"/>
          </a:xfrm>
          <a:prstGeom prst="rect">
            <a:avLst/>
          </a:prstGeom>
          <a:ln w="31750">
            <a:solidFill>
              <a:schemeClr val="accent1"/>
            </a:solidFill>
            <a:prstDash val="solid"/>
          </a:ln>
        </p:spPr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2148840" y="228600"/>
            <a:ext cx="822960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4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24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13" Type="http://schemas.openxmlformats.org/officeDocument/2006/relationships/image" Target="../media/image7.png"/><Relationship Id="rId3" Type="http://schemas.openxmlformats.org/officeDocument/2006/relationships/hyperlink" Target="mailto:harshal.suhasyadav2024@vitstudent.ac.in" TargetMode="External"/><Relationship Id="rId7" Type="http://schemas.openxmlformats.org/officeDocument/2006/relationships/image" Target="../media/image1.png"/><Relationship Id="rId12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hyperlink" Target="mailto:milind.sharma2024@vitstudent.ac.in" TargetMode="External"/><Relationship Id="rId11" Type="http://schemas.openxmlformats.org/officeDocument/2006/relationships/image" Target="../media/image5.png"/><Relationship Id="rId5" Type="http://schemas.openxmlformats.org/officeDocument/2006/relationships/hyperlink" Target="mailto:abhrant.rpal2024@vitstudent.ac.in" TargetMode="External"/><Relationship Id="rId15" Type="http://schemas.openxmlformats.org/officeDocument/2006/relationships/image" Target="../media/image9.png"/><Relationship Id="rId10" Type="http://schemas.openxmlformats.org/officeDocument/2006/relationships/image" Target="../media/image4.png"/><Relationship Id="rId4" Type="http://schemas.openxmlformats.org/officeDocument/2006/relationships/hyperlink" Target="mailto:paidi.2024@vitstudent.ac.in" TargetMode="External"/><Relationship Id="rId9" Type="http://schemas.openxmlformats.org/officeDocument/2006/relationships/image" Target="../media/image3.png"/><Relationship Id="rId1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2148840" y="2286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tx1"/>
                </a:solidFill>
              </a:rPr>
              <a:t>Task Aware Dynamic Semantic Compression Framework for 6G Deep JSCC</a:t>
            </a:r>
            <a:endParaRPr lang="en-US" sz="2400" dirty="0"/>
          </a:p>
        </p:txBody>
      </p:sp>
      <p:sp>
        <p:nvSpPr>
          <p:cNvPr id="5" name="Authors"/>
          <p:cNvSpPr txBox="1"/>
          <p:nvPr/>
        </p:nvSpPr>
        <p:spPr>
          <a:xfrm>
            <a:off x="2148840" y="98755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Harshal Yadav (24BEC0639), Milind Sharma (24BEC0078), P. Chaitanyaprasad (24BEC0551), Abhrant R. Pal (24BEC0545)</a:t>
            </a:r>
            <a:endParaRPr lang="en-US" sz="1400" dirty="0"/>
          </a:p>
        </p:txBody>
      </p:sp>
      <p:sp>
        <p:nvSpPr>
          <p:cNvPr id="6" name="Guide"/>
          <p:cNvSpPr txBox="1"/>
          <p:nvPr/>
        </p:nvSpPr>
        <p:spPr>
          <a:xfrm>
            <a:off x="2148840" y="14447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Dr. Thanikaiselvan V., Professor | SENSE</a:t>
            </a:r>
            <a:endParaRPr lang="en-US" sz="1400" dirty="0"/>
          </a:p>
        </p:txBody>
      </p:sp>
      <p:sp>
        <p:nvSpPr>
          <p:cNvPr id="7" name="Heading: Motivation / Introduction"/>
          <p:cNvSpPr txBox="1"/>
          <p:nvPr/>
        </p:nvSpPr>
        <p:spPr>
          <a:xfrm>
            <a:off x="274320" y="1828800"/>
            <a:ext cx="49789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Motivation / Introduction</a:t>
            </a:r>
            <a:endParaRPr lang="en-US" sz="1600" dirty="0"/>
          </a:p>
        </p:txBody>
      </p:sp>
      <p:sp>
        <p:nvSpPr>
          <p:cNvPr id="8" name="Box: Motivation"/>
          <p:cNvSpPr/>
          <p:nvPr/>
        </p:nvSpPr>
        <p:spPr>
          <a:xfrm>
            <a:off x="274320" y="2121408"/>
            <a:ext cx="4978908" cy="137160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65760" y="2194560"/>
            <a:ext cx="4796028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6G is shifting from bit-accurate delivery to </a:t>
            </a:r>
            <a:r>
              <a:rPr lang="en-US" sz="1100" b="1" dirty="0">
                <a:solidFill>
                  <a:schemeClr val="tx1"/>
                </a:solidFill>
              </a:rPr>
              <a:t>meaning- and task-oriented</a:t>
            </a:r>
            <a:r>
              <a:rPr lang="en-US" sz="1100" dirty="0">
                <a:solidFill>
                  <a:schemeClr val="tx1"/>
                </a:solidFill>
              </a:rPr>
              <a:t> delivery, yet raw camera and sensor data is too large for the radio link. Separate source and channel coding also suffers a </a:t>
            </a:r>
            <a:r>
              <a:rPr lang="en-US" sz="1100" b="1" dirty="0">
                <a:solidFill>
                  <a:schemeClr val="tx1"/>
                </a:solidFill>
              </a:rPr>
              <a:t>cliff effect</a:t>
            </a:r>
            <a:r>
              <a:rPr lang="en-US" sz="1100" dirty="0">
                <a:solidFill>
                  <a:schemeClr val="tx1"/>
                </a:solidFill>
              </a:rPr>
              <a:t>, failing abruptly below a threshold SNR, while deep JSCC degrades gradually. Receivers differ too: a human operator needs a viewable image, whereas a traffic AI needs only task-relevant semantics. Existing JSCC work usually optimizes either reconstruction or task accuracy, and often ignores payload size.</a:t>
            </a:r>
            <a:endParaRPr lang="en-US" sz="1100" dirty="0"/>
          </a:p>
        </p:txBody>
      </p:sp>
      <p:sp>
        <p:nvSpPr>
          <p:cNvPr id="10" name="Heading: Scope of the Project"/>
          <p:cNvSpPr txBox="1"/>
          <p:nvPr/>
        </p:nvSpPr>
        <p:spPr>
          <a:xfrm>
            <a:off x="274320" y="3584448"/>
            <a:ext cx="49789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Scope of the Project</a:t>
            </a:r>
            <a:endParaRPr lang="en-US" sz="1600" dirty="0"/>
          </a:p>
        </p:txBody>
      </p:sp>
      <p:sp>
        <p:nvSpPr>
          <p:cNvPr id="11" name="Box: Scope"/>
          <p:cNvSpPr/>
          <p:nvPr/>
        </p:nvSpPr>
        <p:spPr>
          <a:xfrm>
            <a:off x="274320" y="3877056"/>
            <a:ext cx="4978908" cy="1572768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65760" y="3950208"/>
            <a:ext cx="4796028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We design a </a:t>
            </a:r>
            <a:r>
              <a:rPr lang="en-US" sz="1100" b="1" dirty="0">
                <a:solidFill>
                  <a:schemeClr val="tx1"/>
                </a:solidFill>
              </a:rPr>
              <a:t>dual-mode semantic transmitter</a:t>
            </a:r>
            <a:r>
              <a:rPr lang="en-US" sz="1100" dirty="0">
                <a:solidFill>
                  <a:schemeClr val="tx1"/>
                </a:solidFill>
              </a:rPr>
              <a:t> for traffic imagery (highway vs urban): one transmitter, two kinds of receiver. </a:t>
            </a:r>
            <a:r>
              <a:rPr lang="en-US" sz="1100" b="1" dirty="0">
                <a:solidFill>
                  <a:schemeClr val="tx1"/>
                </a:solidFill>
              </a:rPr>
              <a:t>Human mode</a:t>
            </a:r>
            <a:r>
              <a:rPr lang="en-US" sz="1100" dirty="0">
                <a:solidFill>
                  <a:schemeClr val="tx1"/>
                </a:solidFill>
              </a:rPr>
              <a:t> sends a 4×64×64 latent (16,384 values) from a frozen pretrained VAE and reconstructs the image. </a:t>
            </a:r>
            <a:r>
              <a:rPr lang="en-US" sz="1100" b="1" dirty="0">
                <a:solidFill>
                  <a:schemeClr val="tx1"/>
                </a:solidFill>
              </a:rPr>
              <a:t>Machine mode</a:t>
            </a:r>
            <a:r>
              <a:rPr lang="en-US" sz="1100" dirty="0">
                <a:solidFill>
                  <a:schemeClr val="tx1"/>
                </a:solidFill>
              </a:rPr>
              <a:t> sends a 128-value semantic vector from a lightweight CNN and classifies it directly. Both travel over a power-normalized AWGN channel (SNR −5 to 25 dB). We measure MSE, PSNR, accuracy and bandwidth savings, and compare JSCC behavior against a conceptual digital outage (cliff) model.</a:t>
            </a:r>
            <a:endParaRPr lang="en-US" sz="1100" dirty="0"/>
          </a:p>
        </p:txBody>
      </p:sp>
      <p:sp>
        <p:nvSpPr>
          <p:cNvPr id="13" name="Heading: Methodology"/>
          <p:cNvSpPr txBox="1"/>
          <p:nvPr/>
        </p:nvSpPr>
        <p:spPr>
          <a:xfrm>
            <a:off x="274320" y="5541264"/>
            <a:ext cx="49789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Methodology</a:t>
            </a:r>
            <a:endParaRPr lang="en-US" sz="1600" dirty="0"/>
          </a:p>
        </p:txBody>
      </p:sp>
      <p:sp>
        <p:nvSpPr>
          <p:cNvPr id="14" name="Box: Methodology"/>
          <p:cNvSpPr/>
          <p:nvPr/>
        </p:nvSpPr>
        <p:spPr>
          <a:xfrm>
            <a:off x="274320" y="5833872"/>
            <a:ext cx="4978908" cy="9025128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65760" y="8110728"/>
            <a:ext cx="47960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tx2"/>
                </a:solidFill>
              </a:rPr>
              <a:t>Fig. 1  Overall dual-mode semantic communication system.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365760" y="10186416"/>
            <a:ext cx="232943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tx2"/>
                </a:solidFill>
              </a:rPr>
              <a:t>Fig. 2  Human-mode branch.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2832354" y="10186416"/>
            <a:ext cx="232943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tx2"/>
                </a:solidFill>
              </a:rPr>
              <a:t>Fig. 3  Machine-mode branch.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365760" y="10460736"/>
            <a:ext cx="47960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100" b="1" dirty="0">
                <a:solidFill>
                  <a:schemeClr val="tx1"/>
                </a:solidFill>
              </a:rPr>
              <a:t>Dataset and setup: </a:t>
            </a:r>
            <a:r>
              <a:rPr lang="en-US" sz="1100" dirty="0">
                <a:solidFill>
                  <a:schemeClr val="tx1"/>
                </a:solidFill>
              </a:rPr>
              <a:t>traffic_data, 200 images, 2 classes (highway, urban), resized to 512×512. Split: 140 train, 60 machine-test, 20 human-test. Python 3, PyTorch, Hugging Face diffusers (AutoencoderKL, sd-vae-ft-mse), AdamW (lr 1e-3, weight decay 1e-4), 80 epochs, cross-entropy, seed 6.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365760" y="11356848"/>
            <a:ext cx="47960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100" b="1" dirty="0">
                <a:solidFill>
                  <a:schemeClr val="tx1"/>
                </a:solidFill>
              </a:rPr>
              <a:t>a) Human mode: </a:t>
            </a:r>
            <a:r>
              <a:rPr lang="en-US" sz="1100" dirty="0">
                <a:solidFill>
                  <a:schemeClr val="tx1"/>
                </a:solidFill>
              </a:rPr>
              <a:t>A frozen VAE encoder maps the image to a 4×64×64 latent (scaled by 0.18215). The latent is corrupted by AWGN and the VAE decoder reconstructs the image. Fidelity is reported as MSE and PSNR.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365760" y="12088368"/>
            <a:ext cx="47960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100" b="1" dirty="0">
                <a:solidFill>
                  <a:schemeClr val="tx1"/>
                </a:solidFill>
              </a:rPr>
              <a:t>b) Machine mode: </a:t>
            </a:r>
            <a:r>
              <a:rPr lang="en-US" sz="1100" dirty="0">
                <a:solidFill>
                  <a:schemeClr val="tx1"/>
                </a:solidFill>
              </a:rPr>
              <a:t>A lightweight CNN (4 Conv + BatchNorm + GELU blocks, global average pooling, Linear 128) produces a 128-value semantic vector. After AWGN, a Linear(128→2) head outputs highway or urban.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365760" y="12819888"/>
            <a:ext cx="47960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100" b="1" dirty="0">
                <a:solidFill>
                  <a:schemeClr val="tx1"/>
                </a:solidFill>
              </a:rPr>
              <a:t>c) Channel-robust training: </a:t>
            </a:r>
            <a:r>
              <a:rPr lang="en-US" sz="1100" dirty="0">
                <a:solidFill>
                  <a:schemeClr val="tx1"/>
                </a:solidFill>
              </a:rPr>
              <a:t>one SNR is drawn at random per batch from {25, 20, 15, 10, 5, 0, −5} dB, so the encoder and classifier learn with the noisy channel in the loop.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438912" y="13459968"/>
            <a:ext cx="4649724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1100" b="1" dirty="0">
                <a:solidFill>
                  <a:schemeClr val="tx1"/>
                </a:solidFill>
              </a:rPr>
              <a:t>σ² = P_signal / 10</a:t>
            </a:r>
            <a:r>
              <a:rPr lang="en-US" sz="1100" b="1" baseline="30000" dirty="0">
                <a:solidFill>
                  <a:schemeClr val="tx1"/>
                </a:solidFill>
              </a:rPr>
              <a:t>(SNR/10)</a:t>
            </a:r>
            <a:r>
              <a:rPr lang="en-US" sz="1100" b="1" dirty="0">
                <a:solidFill>
                  <a:schemeClr val="tx1"/>
                </a:solidFill>
              </a:rPr>
              <a:t>          PSNR = −10·log₁₀(MSE)</a:t>
            </a:r>
            <a:endParaRPr lang="en-US" sz="1100" dirty="0"/>
          </a:p>
          <a:p>
            <a:pPr marL="0" indent="0" algn="ctr">
              <a:spcAft>
                <a:spcPts val="200"/>
              </a:spcAft>
              <a:buNone/>
            </a:pPr>
            <a:r>
              <a:rPr lang="en-US" sz="1100" b="1" dirty="0">
                <a:solidFill>
                  <a:schemeClr val="tx1"/>
                </a:solidFill>
              </a:rPr>
              <a:t>Saving = 1 − N_tx / 786,432</a:t>
            </a:r>
            <a:endParaRPr lang="en-US" sz="1100" dirty="0"/>
          </a:p>
          <a:p>
            <a:pPr marL="0" indent="0" algn="ctr">
              <a:spcAft>
                <a:spcPts val="200"/>
              </a:spcAft>
              <a:buNone/>
            </a:pPr>
            <a:r>
              <a:rPr lang="en-US" sz="1000" dirty="0">
                <a:solidFill>
                  <a:schemeClr val="tx2"/>
                </a:solidFill>
              </a:rPr>
              <a:t>σ²: AWGN noise power; P_signal: average transmitted signal power; N_tx: number of transmitted values.</a:t>
            </a:r>
            <a:endParaRPr lang="en-US" sz="1100" dirty="0"/>
          </a:p>
        </p:txBody>
      </p:sp>
      <p:sp>
        <p:nvSpPr>
          <p:cNvPr id="30" name="Heading: Results"/>
          <p:cNvSpPr txBox="1"/>
          <p:nvPr/>
        </p:nvSpPr>
        <p:spPr>
          <a:xfrm>
            <a:off x="5436108" y="1828800"/>
            <a:ext cx="49789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Results</a:t>
            </a:r>
            <a:endParaRPr lang="en-US" sz="1600" dirty="0"/>
          </a:p>
        </p:txBody>
      </p:sp>
      <p:sp>
        <p:nvSpPr>
          <p:cNvPr id="31" name="Box: Results"/>
          <p:cNvSpPr/>
          <p:nvPr/>
        </p:nvSpPr>
        <p:spPr>
          <a:xfrm>
            <a:off x="5436108" y="2121407"/>
            <a:ext cx="4978908" cy="8528307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5527548" y="3343319"/>
            <a:ext cx="47960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tx2"/>
                </a:solidFill>
              </a:rPr>
              <a:t>Fig. 4  Reconstructions degrade smoothly as SNR drops.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5527548" y="4810087"/>
            <a:ext cx="232943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tx2"/>
                </a:solidFill>
              </a:rPr>
              <a:t>Fig. 5  Human-mode PSNR falls smoothly; machine accuracy stays at 71.7–75.0%.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7994142" y="4810086"/>
            <a:ext cx="232943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tx2"/>
                </a:solidFill>
              </a:rPr>
              <a:t>Fig. 6  Graceful JSCC degradation vs a conceptual digital cliff (5 dB threshold).</a:t>
            </a:r>
            <a:endParaRPr lang="en-US" sz="1000" dirty="0"/>
          </a:p>
        </p:txBody>
      </p:sp>
      <p:sp>
        <p:nvSpPr>
          <p:cNvPr id="45" name="Text 43"/>
          <p:cNvSpPr txBox="1"/>
          <p:nvPr/>
        </p:nvSpPr>
        <p:spPr>
          <a:xfrm>
            <a:off x="5527548" y="6565054"/>
            <a:ext cx="232943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tx2"/>
                </a:solidFill>
              </a:rPr>
              <a:t>Fig. 7  Payload: raw 786,432, human 16,384, machine 128 values.</a:t>
            </a:r>
            <a:endParaRPr lang="en-US" sz="1000" dirty="0"/>
          </a:p>
        </p:txBody>
      </p:sp>
      <p:sp>
        <p:nvSpPr>
          <p:cNvPr id="46" name="Text 44"/>
          <p:cNvSpPr txBox="1"/>
          <p:nvPr/>
        </p:nvSpPr>
        <p:spPr>
          <a:xfrm>
            <a:off x="7994142" y="6615856"/>
            <a:ext cx="232943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tx2"/>
                </a:solidFill>
              </a:rPr>
              <a:t>Fig. 8  Machine-branch training over 80 epochs (train accuracy 98%).</a:t>
            </a:r>
            <a:endParaRPr lang="en-US" sz="1000" dirty="0"/>
          </a:p>
        </p:txBody>
      </p:sp>
      <p:sp>
        <p:nvSpPr>
          <p:cNvPr id="49" name="Text 47"/>
          <p:cNvSpPr txBox="1"/>
          <p:nvPr/>
        </p:nvSpPr>
        <p:spPr>
          <a:xfrm>
            <a:off x="5527548" y="8743357"/>
            <a:ext cx="232943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tx2"/>
                </a:solidFill>
              </a:rPr>
              <a:t>Fig. 9  Held-out set  at 10 dB: 73.33% accuracy.</a:t>
            </a:r>
            <a:endParaRPr lang="en-US" sz="1000" dirty="0"/>
          </a:p>
        </p:txBody>
      </p:sp>
      <p:graphicFrame>
        <p:nvGraphicFramePr>
          <p:cNvPr id="50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9326868"/>
              </p:ext>
            </p:extLst>
          </p:nvPr>
        </p:nvGraphicFramePr>
        <p:xfrm>
          <a:off x="7994142" y="7144516"/>
          <a:ext cx="2329434" cy="1609344"/>
        </p:xfrm>
        <a:graphic>
          <a:graphicData uri="http://schemas.openxmlformats.org/drawingml/2006/table">
            <a:tbl>
              <a:tblPr/>
              <a:tblGrid>
                <a:gridCol w="7764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64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64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chemeClr val="bg1"/>
                          </a:solidFill>
                        </a:rPr>
                        <a:t>SNR (dB)</a:t>
                      </a:r>
                      <a:endParaRPr lang="en-US" sz="950" dirty="0"/>
                    </a:p>
                  </a:txBody>
                  <a:tcPr marL="27432" marR="27432" marT="0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chemeClr val="bg1"/>
                          </a:solidFill>
                        </a:rPr>
                        <a:t>PSNR (dB)</a:t>
                      </a:r>
                      <a:endParaRPr lang="en-US" sz="950" dirty="0"/>
                    </a:p>
                  </a:txBody>
                  <a:tcPr marL="27432" marR="27432" marT="0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chemeClr val="bg1"/>
                          </a:solidFill>
                        </a:rPr>
                        <a:t>Acc. (%)</a:t>
                      </a:r>
                      <a:endParaRPr lang="en-US" sz="950" dirty="0"/>
                    </a:p>
                  </a:txBody>
                  <a:tcPr marL="27432" marR="27432" marT="0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25</a:t>
                      </a:r>
                      <a:endParaRPr lang="en-US" sz="950" dirty="0"/>
                    </a:p>
                  </a:txBody>
                  <a:tcPr marL="27432" marR="27432" marT="0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26.34</a:t>
                      </a:r>
                      <a:endParaRPr lang="en-US" sz="950" dirty="0"/>
                    </a:p>
                  </a:txBody>
                  <a:tcPr marL="27432" marR="27432" marT="0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71.7</a:t>
                      </a:r>
                      <a:endParaRPr lang="en-US" sz="950" dirty="0"/>
                    </a:p>
                  </a:txBody>
                  <a:tcPr marL="27432" marR="27432" marT="0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20</a:t>
                      </a:r>
                      <a:endParaRPr lang="en-US" sz="950" dirty="0"/>
                    </a:p>
                  </a:txBody>
                  <a:tcPr marL="27432" marR="27432" marT="0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25.72</a:t>
                      </a:r>
                      <a:endParaRPr lang="en-US" sz="950" dirty="0"/>
                    </a:p>
                  </a:txBody>
                  <a:tcPr marL="27432" marR="27432" marT="0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71.7</a:t>
                      </a:r>
                      <a:endParaRPr lang="en-US" sz="950" dirty="0"/>
                    </a:p>
                  </a:txBody>
                  <a:tcPr marL="27432" marR="27432" marT="0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15</a:t>
                      </a:r>
                      <a:endParaRPr lang="en-US" sz="950" dirty="0"/>
                    </a:p>
                  </a:txBody>
                  <a:tcPr marL="27432" marR="27432" marT="0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24.24</a:t>
                      </a:r>
                      <a:endParaRPr lang="en-US" sz="950" dirty="0"/>
                    </a:p>
                  </a:txBody>
                  <a:tcPr marL="27432" marR="27432" marT="0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71.7</a:t>
                      </a:r>
                      <a:endParaRPr lang="en-US" sz="950" dirty="0"/>
                    </a:p>
                  </a:txBody>
                  <a:tcPr marL="27432" marR="27432" marT="0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en-US" sz="950" dirty="0"/>
                    </a:p>
                  </a:txBody>
                  <a:tcPr marL="27432" marR="27432" marT="0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21.19</a:t>
                      </a:r>
                      <a:endParaRPr lang="en-US" sz="950" dirty="0"/>
                    </a:p>
                  </a:txBody>
                  <a:tcPr marL="27432" marR="27432" marT="0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73.3</a:t>
                      </a:r>
                      <a:endParaRPr lang="en-US" sz="950" dirty="0"/>
                    </a:p>
                  </a:txBody>
                  <a:tcPr marL="27432" marR="27432" marT="0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950" dirty="0"/>
                    </a:p>
                  </a:txBody>
                  <a:tcPr marL="27432" marR="27432" marT="0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16.48</a:t>
                      </a:r>
                      <a:endParaRPr lang="en-US" sz="950" dirty="0"/>
                    </a:p>
                  </a:txBody>
                  <a:tcPr marL="27432" marR="27432" marT="0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71.7</a:t>
                      </a:r>
                      <a:endParaRPr lang="en-US" sz="950" dirty="0"/>
                    </a:p>
                  </a:txBody>
                  <a:tcPr marL="27432" marR="27432" marT="0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950" dirty="0"/>
                    </a:p>
                  </a:txBody>
                  <a:tcPr marL="27432" marR="27432" marT="0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11.68</a:t>
                      </a:r>
                      <a:endParaRPr lang="en-US" sz="950" dirty="0"/>
                    </a:p>
                  </a:txBody>
                  <a:tcPr marL="27432" marR="27432" marT="0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75.0</a:t>
                      </a:r>
                      <a:endParaRPr lang="en-US" sz="950" dirty="0"/>
                    </a:p>
                  </a:txBody>
                  <a:tcPr marL="27432" marR="27432" marT="0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−5</a:t>
                      </a:r>
                      <a:endParaRPr lang="en-US" sz="950" dirty="0"/>
                    </a:p>
                  </a:txBody>
                  <a:tcPr marL="27432" marR="27432" marT="0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8.86</a:t>
                      </a:r>
                      <a:endParaRPr lang="en-US" sz="950" dirty="0"/>
                    </a:p>
                  </a:txBody>
                  <a:tcPr marL="27432" marR="27432" marT="0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71.7</a:t>
                      </a:r>
                      <a:endParaRPr lang="en-US" sz="950" dirty="0"/>
                    </a:p>
                  </a:txBody>
                  <a:tcPr marL="27432" marR="27432" marT="0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1" name="Text 48"/>
          <p:cNvSpPr txBox="1"/>
          <p:nvPr/>
        </p:nvSpPr>
        <p:spPr>
          <a:xfrm>
            <a:off x="7994142" y="8811091"/>
            <a:ext cx="232943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tx2"/>
                </a:solidFill>
              </a:rPr>
              <a:t>Table 1  Performance vs SNR.</a:t>
            </a:r>
            <a:endParaRPr lang="en-US" sz="1000" dirty="0"/>
          </a:p>
        </p:txBody>
      </p:sp>
      <p:sp>
        <p:nvSpPr>
          <p:cNvPr id="52" name="Heading: SDGs Addressed:"/>
          <p:cNvSpPr txBox="1"/>
          <p:nvPr/>
        </p:nvSpPr>
        <p:spPr>
          <a:xfrm>
            <a:off x="5527548" y="9043420"/>
            <a:ext cx="47960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SDGs Addressed:</a:t>
            </a:r>
            <a:endParaRPr lang="en-US" sz="1400" dirty="0"/>
          </a:p>
        </p:txBody>
      </p:sp>
      <p:sp>
        <p:nvSpPr>
          <p:cNvPr id="53" name="SDG tile 3"/>
          <p:cNvSpPr/>
          <p:nvPr/>
        </p:nvSpPr>
        <p:spPr>
          <a:xfrm>
            <a:off x="5527548" y="9405116"/>
            <a:ext cx="530352" cy="530352"/>
          </a:xfrm>
          <a:prstGeom prst="rect">
            <a:avLst/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</p:spPr>
      </p:sp>
      <p:sp>
        <p:nvSpPr>
          <p:cNvPr id="54" name="SDG number 3"/>
          <p:cNvSpPr txBox="1"/>
          <p:nvPr/>
        </p:nvSpPr>
        <p:spPr>
          <a:xfrm>
            <a:off x="5527548" y="942204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55" name="Text 52"/>
          <p:cNvSpPr txBox="1"/>
          <p:nvPr/>
        </p:nvSpPr>
        <p:spPr>
          <a:xfrm>
            <a:off x="6131052" y="9430513"/>
            <a:ext cx="172593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chemeClr val="tx1"/>
                </a:solidFill>
              </a:rPr>
              <a:t>Good Health and Well-being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chemeClr val="tx1"/>
                </a:solidFill>
              </a:rPr>
              <a:t>Faster road-incident detection</a:t>
            </a:r>
            <a:endParaRPr lang="en-US" sz="1000" dirty="0"/>
          </a:p>
        </p:txBody>
      </p:sp>
      <p:sp>
        <p:nvSpPr>
          <p:cNvPr id="56" name="SDG tile 9"/>
          <p:cNvSpPr/>
          <p:nvPr/>
        </p:nvSpPr>
        <p:spPr>
          <a:xfrm>
            <a:off x="7994142" y="9405281"/>
            <a:ext cx="530352" cy="530352"/>
          </a:xfrm>
          <a:prstGeom prst="rect">
            <a:avLst/>
          </a:prstGeom>
          <a:solidFill>
            <a:schemeClr val="accent4"/>
          </a:solidFill>
          <a:ln w="6350">
            <a:solidFill>
              <a:schemeClr val="accent4"/>
            </a:solidFill>
            <a:prstDash val="solid"/>
          </a:ln>
        </p:spPr>
      </p:sp>
      <p:sp>
        <p:nvSpPr>
          <p:cNvPr id="57" name="SDG number 9"/>
          <p:cNvSpPr txBox="1"/>
          <p:nvPr/>
        </p:nvSpPr>
        <p:spPr>
          <a:xfrm>
            <a:off x="7994142" y="9379713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9</a:t>
            </a:r>
            <a:endParaRPr lang="en-US" sz="2000" dirty="0"/>
          </a:p>
        </p:txBody>
      </p:sp>
      <p:sp>
        <p:nvSpPr>
          <p:cNvPr id="58" name="Text 55"/>
          <p:cNvSpPr txBox="1"/>
          <p:nvPr/>
        </p:nvSpPr>
        <p:spPr>
          <a:xfrm>
            <a:off x="8597646" y="9422046"/>
            <a:ext cx="172593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chemeClr val="tx1"/>
                </a:solidFill>
              </a:rPr>
              <a:t>Industry, Innovation, Infrastructure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chemeClr val="tx1"/>
                </a:solidFill>
              </a:rPr>
              <a:t>Efficient AI-native 6G links</a:t>
            </a:r>
            <a:endParaRPr lang="en-US" sz="1000" dirty="0"/>
          </a:p>
        </p:txBody>
      </p:sp>
      <p:sp>
        <p:nvSpPr>
          <p:cNvPr id="59" name="SDG tile 11"/>
          <p:cNvSpPr/>
          <p:nvPr/>
        </p:nvSpPr>
        <p:spPr>
          <a:xfrm>
            <a:off x="5527548" y="10052304"/>
            <a:ext cx="530352" cy="530352"/>
          </a:xfrm>
          <a:prstGeom prst="rect">
            <a:avLst/>
          </a:prstGeom>
          <a:solidFill>
            <a:schemeClr val="accent5"/>
          </a:solidFill>
          <a:ln w="6350">
            <a:solidFill>
              <a:schemeClr val="accent5"/>
            </a:solidFill>
            <a:prstDash val="solid"/>
          </a:ln>
        </p:spPr>
      </p:sp>
      <p:sp>
        <p:nvSpPr>
          <p:cNvPr id="60" name="SDG number 11"/>
          <p:cNvSpPr txBox="1"/>
          <p:nvPr/>
        </p:nvSpPr>
        <p:spPr>
          <a:xfrm>
            <a:off x="5527548" y="1003537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11</a:t>
            </a:r>
            <a:endParaRPr lang="en-US" sz="2000" dirty="0"/>
          </a:p>
        </p:txBody>
      </p:sp>
      <p:sp>
        <p:nvSpPr>
          <p:cNvPr id="61" name="Text 58"/>
          <p:cNvSpPr txBox="1"/>
          <p:nvPr/>
        </p:nvSpPr>
        <p:spPr>
          <a:xfrm>
            <a:off x="6131052" y="10026907"/>
            <a:ext cx="172593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chemeClr val="tx1"/>
                </a:solidFill>
              </a:rPr>
              <a:t>Sustainable Cities and Communities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chemeClr val="tx1"/>
                </a:solidFill>
              </a:rPr>
              <a:t>Bandwidth-light traffic monitoring</a:t>
            </a:r>
            <a:endParaRPr lang="en-US" sz="1000" dirty="0"/>
          </a:p>
        </p:txBody>
      </p:sp>
      <p:sp>
        <p:nvSpPr>
          <p:cNvPr id="62" name="SDG tile 13"/>
          <p:cNvSpPr/>
          <p:nvPr/>
        </p:nvSpPr>
        <p:spPr>
          <a:xfrm>
            <a:off x="7994142" y="10064838"/>
            <a:ext cx="530352" cy="530352"/>
          </a:xfrm>
          <a:prstGeom prst="rect">
            <a:avLst/>
          </a:prstGeom>
          <a:solidFill>
            <a:schemeClr val="accent6"/>
          </a:solidFill>
          <a:ln w="6350">
            <a:solidFill>
              <a:schemeClr val="accent6"/>
            </a:solidFill>
            <a:prstDash val="solid"/>
          </a:ln>
        </p:spPr>
      </p:sp>
      <p:sp>
        <p:nvSpPr>
          <p:cNvPr id="63" name="SDG number 13"/>
          <p:cNvSpPr txBox="1"/>
          <p:nvPr/>
        </p:nvSpPr>
        <p:spPr>
          <a:xfrm>
            <a:off x="7992788" y="10072793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13</a:t>
            </a:r>
            <a:endParaRPr lang="en-US" sz="2000" dirty="0"/>
          </a:p>
        </p:txBody>
      </p:sp>
      <p:sp>
        <p:nvSpPr>
          <p:cNvPr id="64" name="Text 61"/>
          <p:cNvSpPr txBox="1"/>
          <p:nvPr/>
        </p:nvSpPr>
        <p:spPr>
          <a:xfrm>
            <a:off x="8597646" y="10170837"/>
            <a:ext cx="172593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chemeClr val="tx1"/>
                </a:solidFill>
              </a:rPr>
              <a:t>Climate Action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chemeClr val="tx1"/>
                </a:solidFill>
              </a:rPr>
              <a:t>Fewer values sent, less energy</a:t>
            </a:r>
            <a:endParaRPr lang="en-US" sz="1000" dirty="0"/>
          </a:p>
        </p:txBody>
      </p:sp>
      <p:sp>
        <p:nvSpPr>
          <p:cNvPr id="65" name="Heading: Conclusion / Summary"/>
          <p:cNvSpPr txBox="1"/>
          <p:nvPr/>
        </p:nvSpPr>
        <p:spPr>
          <a:xfrm>
            <a:off x="5436108" y="10745560"/>
            <a:ext cx="49789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Conclusion / Summary</a:t>
            </a:r>
            <a:endParaRPr lang="en-US" sz="1600" dirty="0"/>
          </a:p>
        </p:txBody>
      </p:sp>
      <p:sp>
        <p:nvSpPr>
          <p:cNvPr id="66" name="Box: Conclusion"/>
          <p:cNvSpPr/>
          <p:nvPr/>
        </p:nvSpPr>
        <p:spPr>
          <a:xfrm>
            <a:off x="5436108" y="11036808"/>
            <a:ext cx="4978908" cy="1115567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7" name="Text 64"/>
          <p:cNvSpPr txBox="1"/>
          <p:nvPr/>
        </p:nvSpPr>
        <p:spPr>
          <a:xfrm>
            <a:off x="5527548" y="11077455"/>
            <a:ext cx="4796028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A dual-mode semantic architecture serves human and machine receivers over a noisy 6G-style channel. Payload is cut by </a:t>
            </a:r>
            <a:r>
              <a:rPr lang="en-US" sz="1100" b="1" dirty="0">
                <a:solidFill>
                  <a:schemeClr val="tx1"/>
                </a:solidFill>
              </a:rPr>
              <a:t>97.92%</a:t>
            </a:r>
            <a:r>
              <a:rPr lang="en-US" sz="1100" dirty="0">
                <a:solidFill>
                  <a:schemeClr val="tx1"/>
                </a:solidFill>
              </a:rPr>
              <a:t> (human, 48×) and </a:t>
            </a:r>
            <a:r>
              <a:rPr lang="en-US" sz="1100" b="1" dirty="0">
                <a:solidFill>
                  <a:schemeClr val="tx1"/>
                </a:solidFill>
              </a:rPr>
              <a:t>99.98%</a:t>
            </a:r>
            <a:r>
              <a:rPr lang="en-US" sz="1100" dirty="0">
                <a:solidFill>
                  <a:schemeClr val="tx1"/>
                </a:solidFill>
              </a:rPr>
              <a:t> (machine, 6,144×). Human PSNR degrades gracefully from 26.34 dB to 8.86 dB, and machine accuracy stays stable at 71.7–75.0% across −5 to 25 dB SNR. Future work: larger multi-class datasets, fading and MIMO channels, a SwinJSCC backbone, a simulated JPEG/BPG + LDPC baseline, and SDR hardware validation.</a:t>
            </a:r>
            <a:endParaRPr lang="en-US" sz="1100" dirty="0"/>
          </a:p>
        </p:txBody>
      </p:sp>
      <p:sp>
        <p:nvSpPr>
          <p:cNvPr id="68" name="Heading: Contact Details:"/>
          <p:cNvSpPr txBox="1"/>
          <p:nvPr/>
        </p:nvSpPr>
        <p:spPr>
          <a:xfrm>
            <a:off x="5436108" y="12159146"/>
            <a:ext cx="49789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Contact Details:</a:t>
            </a:r>
            <a:endParaRPr lang="en-US" sz="1400" dirty="0"/>
          </a:p>
        </p:txBody>
      </p:sp>
      <p:sp>
        <p:nvSpPr>
          <p:cNvPr id="69" name="Text 66"/>
          <p:cNvSpPr txBox="1"/>
          <p:nvPr/>
        </p:nvSpPr>
        <p:spPr>
          <a:xfrm>
            <a:off x="5436108" y="12426695"/>
            <a:ext cx="4978908" cy="6194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300"/>
              </a:spcAft>
            </a:pPr>
            <a:r>
              <a:rPr lang="en-US" sz="1100" dirty="0">
                <a:solidFill>
                  <a:schemeClr val="tx1"/>
                </a:solidFill>
              </a:rPr>
              <a:t>Email: </a:t>
            </a:r>
            <a:r>
              <a:rPr lang="en-US" sz="1100" dirty="0">
                <a:hlinkClick r:id="rId3"/>
              </a:rPr>
              <a:t>harshal.suhasyadav2024@vitstudent.ac.in</a:t>
            </a:r>
            <a:r>
              <a:rPr lang="en-US" sz="1100" dirty="0">
                <a:solidFill>
                  <a:schemeClr val="tx1"/>
                </a:solidFill>
              </a:rPr>
              <a:t> </a:t>
            </a:r>
            <a:r>
              <a:rPr lang="en-US" sz="1100" dirty="0"/>
              <a:t>| </a:t>
            </a:r>
            <a:r>
              <a:rPr lang="en-US" sz="1100" dirty="0">
                <a:hlinkClick r:id="rId4"/>
              </a:rPr>
              <a:t>paidi.2024@vitstudent.ac.in</a:t>
            </a:r>
            <a:r>
              <a:rPr lang="en-US" sz="1100" dirty="0"/>
              <a:t> | </a:t>
            </a:r>
            <a:r>
              <a:rPr lang="en-US" sz="1100" dirty="0">
                <a:hlinkClick r:id="rId5"/>
              </a:rPr>
              <a:t>abhrant.rpal2024@vitstudent.ac.in</a:t>
            </a:r>
            <a:r>
              <a:rPr lang="en-US" sz="1100" dirty="0"/>
              <a:t> | </a:t>
            </a:r>
            <a:r>
              <a:rPr lang="en-US" sz="1100" dirty="0">
                <a:hlinkClick r:id="rId6"/>
              </a:rPr>
              <a:t>milind.sharma2024@vitstudent.ac.</a:t>
            </a:r>
            <a:r>
              <a:rPr lang="en-US" sz="1100">
                <a:hlinkClick r:id="rId6"/>
              </a:rPr>
              <a:t>in</a:t>
            </a:r>
            <a:r>
              <a:rPr lang="en-US" sz="1100"/>
              <a:t> </a:t>
            </a:r>
            <a:r>
              <a:rPr lang="en-US" sz="1100">
                <a:solidFill>
                  <a:schemeClr val="tx1"/>
                </a:solidFill>
              </a:rPr>
              <a:t>  </a:t>
            </a:r>
          </a:p>
          <a:p>
            <a:pPr>
              <a:spcAft>
                <a:spcPts val="300"/>
              </a:spcAft>
            </a:pPr>
            <a:r>
              <a:rPr lang="en-US" sz="1100" dirty="0">
                <a:solidFill>
                  <a:schemeClr val="tx1"/>
                </a:solidFill>
              </a:rPr>
              <a:t>Guide: Dr. Thanikaiselvan V., Professor, SENSE, VIT</a:t>
            </a:r>
            <a:endParaRPr lang="en-US" sz="1100" dirty="0"/>
          </a:p>
        </p:txBody>
      </p:sp>
      <p:sp>
        <p:nvSpPr>
          <p:cNvPr id="70" name="Heading: Acknowledgments / References"/>
          <p:cNvSpPr txBox="1"/>
          <p:nvPr/>
        </p:nvSpPr>
        <p:spPr>
          <a:xfrm>
            <a:off x="5436108" y="13046123"/>
            <a:ext cx="49789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Acknowledgments / References</a:t>
            </a:r>
            <a:endParaRPr lang="en-US" sz="1400" dirty="0"/>
          </a:p>
        </p:txBody>
      </p:sp>
      <p:sp>
        <p:nvSpPr>
          <p:cNvPr id="71" name="Text 68"/>
          <p:cNvSpPr txBox="1"/>
          <p:nvPr/>
        </p:nvSpPr>
        <p:spPr>
          <a:xfrm>
            <a:off x="5436108" y="13311971"/>
            <a:ext cx="49789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chemeClr val="tx1"/>
                </a:solidFill>
              </a:rPr>
              <a:t>We thank Dr. Thanikaiselvan V. and SENSE, VIT for guidance and support.</a:t>
            </a:r>
            <a:endParaRPr lang="en-US" sz="1000" dirty="0"/>
          </a:p>
        </p:txBody>
      </p:sp>
      <p:sp>
        <p:nvSpPr>
          <p:cNvPr id="72" name="Text 69"/>
          <p:cNvSpPr txBox="1"/>
          <p:nvPr/>
        </p:nvSpPr>
        <p:spPr>
          <a:xfrm>
            <a:off x="5436108" y="13531430"/>
            <a:ext cx="4978908" cy="1322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00"/>
              </a:spcAft>
              <a:buSzPct val="100000"/>
              <a:buFont typeface="+mj-lt"/>
              <a:buAutoNum type="arabicPeriod"/>
            </a:pPr>
            <a:r>
              <a:rPr lang="en-US" sz="900" dirty="0">
                <a:solidFill>
                  <a:schemeClr val="tx1"/>
                </a:solidFill>
              </a:rPr>
              <a:t>J. Huang et al., “D²-JSCC: Digital deep joint source-channel coding for semantic communications,” IEEE JSAC, 2025.</a:t>
            </a:r>
            <a:endParaRPr lang="en-US" sz="900" dirty="0"/>
          </a:p>
          <a:p>
            <a:pPr marL="342900" indent="-342900" algn="l">
              <a:spcAft>
                <a:spcPts val="100"/>
              </a:spcAft>
              <a:buSzPct val="100000"/>
              <a:buFont typeface="+mj-lt"/>
              <a:buAutoNum type="arabicPeriod"/>
            </a:pPr>
            <a:r>
              <a:rPr lang="en-US" sz="900" dirty="0">
                <a:solidFill>
                  <a:schemeClr val="tx1"/>
                </a:solidFill>
              </a:rPr>
              <a:t>L. X. Nguyen et al., “A contemporary survey on semantic communications: Theory of mind, generative AI, and deep JSCC,” IEEE Commun. Surveys Tuts., 2025.</a:t>
            </a:r>
            <a:endParaRPr lang="en-US" sz="900" dirty="0"/>
          </a:p>
          <a:p>
            <a:pPr marL="342900" indent="-342900" algn="l">
              <a:spcAft>
                <a:spcPts val="100"/>
              </a:spcAft>
              <a:buSzPct val="100000"/>
              <a:buFont typeface="+mj-lt"/>
              <a:buAutoNum type="arabicPeriod"/>
            </a:pPr>
            <a:r>
              <a:rPr lang="en-US" sz="900" dirty="0">
                <a:solidFill>
                  <a:schemeClr val="tx1"/>
                </a:solidFill>
              </a:rPr>
              <a:t>K. Yang et al., “SwinJSCC: Taming Swin Transformer for deep joint source-channel coding,” IEEE TCCN, 2025.</a:t>
            </a:r>
            <a:endParaRPr lang="en-US" sz="900" dirty="0"/>
          </a:p>
          <a:p>
            <a:pPr marL="342900" indent="-342900" algn="l">
              <a:spcAft>
                <a:spcPts val="100"/>
              </a:spcAft>
              <a:buSzPct val="100000"/>
              <a:buFont typeface="+mj-lt"/>
              <a:buAutoNum type="arabicPeriod"/>
            </a:pPr>
            <a:r>
              <a:rPr lang="en-US" sz="900" dirty="0">
                <a:solidFill>
                  <a:schemeClr val="tx1"/>
                </a:solidFill>
              </a:rPr>
              <a:t>Y. Diao et al., “Aligning task- and reconstruction-oriented communications for edge intelligence,” IEEE JSAC, 2025.</a:t>
            </a:r>
            <a:endParaRPr lang="en-US" sz="900" dirty="0"/>
          </a:p>
          <a:p>
            <a:pPr marL="342900" indent="-342900" algn="l">
              <a:spcAft>
                <a:spcPts val="100"/>
              </a:spcAft>
              <a:buSzPct val="100000"/>
              <a:buFont typeface="+mj-lt"/>
              <a:buAutoNum type="arabicPeriod"/>
            </a:pPr>
            <a:r>
              <a:rPr lang="en-US" sz="900" dirty="0">
                <a:solidFill>
                  <a:schemeClr val="tx1"/>
                </a:solidFill>
              </a:rPr>
              <a:t>M. F. Zia et al., “A survey on explainable AI for semantic communication,” Comput. Netw., 2026.</a:t>
            </a:r>
            <a:endParaRPr lang="en-US" sz="900" dirty="0"/>
          </a:p>
        </p:txBody>
      </p:sp>
      <p:pic>
        <p:nvPicPr>
          <p:cNvPr id="76" name="Picture 75">
            <a:extLst>
              <a:ext uri="{FF2B5EF4-FFF2-40B4-BE49-F238E27FC236}">
                <a16:creationId xmlns:a16="http://schemas.microsoft.com/office/drawing/2014/main" id="{A8A11BE3-7454-7C50-0BC3-AD6B46E5254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0198" y="265144"/>
            <a:ext cx="1691640" cy="1444815"/>
          </a:xfrm>
          <a:prstGeom prst="rect">
            <a:avLst/>
          </a:prstGeom>
        </p:spPr>
      </p:pic>
      <p:pic>
        <p:nvPicPr>
          <p:cNvPr id="77" name="Content Placeholder 14">
            <a:extLst>
              <a:ext uri="{FF2B5EF4-FFF2-40B4-BE49-F238E27FC236}">
                <a16:creationId xmlns:a16="http://schemas.microsoft.com/office/drawing/2014/main" id="{F8DFA9ED-11EA-5EB1-EAD6-85C2C3969BC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0198" y="5952744"/>
            <a:ext cx="4851591" cy="2121408"/>
          </a:xfrm>
          <a:prstGeom prst="rect">
            <a:avLst/>
          </a:prstGeom>
          <a:noFill/>
          <a:ln/>
        </p:spPr>
      </p:pic>
      <p:pic>
        <p:nvPicPr>
          <p:cNvPr id="81" name="Picture 80">
            <a:extLst>
              <a:ext uri="{FF2B5EF4-FFF2-40B4-BE49-F238E27FC236}">
                <a16:creationId xmlns:a16="http://schemas.microsoft.com/office/drawing/2014/main" id="{6E0CA4EC-2086-C5E5-61AD-73904CACACE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5062" y="8366760"/>
            <a:ext cx="2330132" cy="1805940"/>
          </a:xfrm>
          <a:prstGeom prst="rect">
            <a:avLst/>
          </a:prstGeom>
        </p:spPr>
      </p:pic>
      <p:pic>
        <p:nvPicPr>
          <p:cNvPr id="85" name="Picture 84">
            <a:extLst>
              <a:ext uri="{FF2B5EF4-FFF2-40B4-BE49-F238E27FC236}">
                <a16:creationId xmlns:a16="http://schemas.microsoft.com/office/drawing/2014/main" id="{EB5D96BB-795A-0718-6202-369471F5C27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828963" y="8339328"/>
            <a:ext cx="2332826" cy="1819656"/>
          </a:xfrm>
          <a:prstGeom prst="rect">
            <a:avLst/>
          </a:prstGeom>
        </p:spPr>
      </p:pic>
      <p:pic>
        <p:nvPicPr>
          <p:cNvPr id="88" name="Content Placeholder 1">
            <a:extLst>
              <a:ext uri="{FF2B5EF4-FFF2-40B4-BE49-F238E27FC236}">
                <a16:creationId xmlns:a16="http://schemas.microsoft.com/office/drawing/2014/main" id="{63F21C2C-108F-D03C-F4A8-748D7563C9C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527548" y="2138339"/>
            <a:ext cx="4796028" cy="1244382"/>
          </a:xfrm>
          <a:prstGeom prst="rect">
            <a:avLst/>
          </a:prstGeom>
        </p:spPr>
      </p:pic>
      <p:pic>
        <p:nvPicPr>
          <p:cNvPr id="91" name="Content Placeholder 9">
            <a:extLst>
              <a:ext uri="{FF2B5EF4-FFF2-40B4-BE49-F238E27FC236}">
                <a16:creationId xmlns:a16="http://schemas.microsoft.com/office/drawing/2014/main" id="{16DF5157-B74E-8120-54CD-4F7655EE90B2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527548" y="3564584"/>
            <a:ext cx="2329434" cy="1228573"/>
          </a:xfrm>
          <a:prstGeom prst="rect">
            <a:avLst/>
          </a:prstGeom>
        </p:spPr>
      </p:pic>
      <p:pic>
        <p:nvPicPr>
          <p:cNvPr id="94" name="Content Placeholder 1">
            <a:extLst>
              <a:ext uri="{FF2B5EF4-FFF2-40B4-BE49-F238E27FC236}">
                <a16:creationId xmlns:a16="http://schemas.microsoft.com/office/drawing/2014/main" id="{19DE7757-C2C1-1E8A-962E-A00A94D7AD5A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527548" y="5202155"/>
            <a:ext cx="2329433" cy="1321924"/>
          </a:xfrm>
          <a:prstGeom prst="rect">
            <a:avLst/>
          </a:prstGeom>
        </p:spPr>
      </p:pic>
      <p:pic>
        <p:nvPicPr>
          <p:cNvPr id="97" name="Content Placeholder 7">
            <a:extLst>
              <a:ext uri="{FF2B5EF4-FFF2-40B4-BE49-F238E27FC236}">
                <a16:creationId xmlns:a16="http://schemas.microsoft.com/office/drawing/2014/main" id="{FAF81C14-340A-DE6B-AB5D-93B9AF804C57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527548" y="6985001"/>
            <a:ext cx="2329433" cy="1764791"/>
          </a:xfrm>
          <a:prstGeom prst="rect">
            <a:avLst/>
          </a:prstGeom>
        </p:spPr>
      </p:pic>
      <p:pic>
        <p:nvPicPr>
          <p:cNvPr id="100" name="Content Placeholder 1">
            <a:extLst>
              <a:ext uri="{FF2B5EF4-FFF2-40B4-BE49-F238E27FC236}">
                <a16:creationId xmlns:a16="http://schemas.microsoft.com/office/drawing/2014/main" id="{A3125BEF-C762-5318-D470-E2AD94F2126E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994142" y="5228677"/>
            <a:ext cx="2328736" cy="126661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484358B4-9011-9572-6019-1B7BB4565380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994142" y="3580045"/>
            <a:ext cx="2328736" cy="120447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VIT Poster">
  <a:themeElements>
    <a:clrScheme name="VIT Poster">
      <a:dk1>
        <a:srgbClr val="000000"/>
      </a:dk1>
      <a:lt1>
        <a:srgbClr val="FFFFFF"/>
      </a:lt1>
      <a:dk2>
        <a:srgbClr val="5B6475"/>
      </a:dk2>
      <a:lt2>
        <a:srgbClr val="F2F4F8"/>
      </a:lt2>
      <a:accent1>
        <a:srgbClr val="C00000"/>
      </a:accent1>
      <a:accent2>
        <a:srgbClr val="1F3A93"/>
      </a:accent2>
      <a:accent3>
        <a:srgbClr val="4C9F38"/>
      </a:accent3>
      <a:accent4>
        <a:srgbClr val="F36D25"/>
      </a:accent4>
      <a:accent5>
        <a:srgbClr val="E8920C"/>
      </a:accent5>
      <a:accent6>
        <a:srgbClr val="3F7E44"/>
      </a:accent6>
      <a:hlink>
        <a:srgbClr val="1F3A93"/>
      </a:hlink>
      <a:folHlink>
        <a:srgbClr val="5B6475"/>
      </a:folHlink>
    </a:clrScheme>
    <a:fontScheme name="VIT Poster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</TotalTime>
  <Words>964</Words>
  <Application>Microsoft Office PowerPoint</Application>
  <PresentationFormat>Custom</PresentationFormat>
  <Paragraphs>76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3" baseType="lpstr">
      <vt:lpstr>Arial</vt:lpstr>
      <vt:lpstr>VIT Poster</vt:lpstr>
      <vt:lpstr>Task Aware Dynamic Semantic Compression Framework for 6G Deep JSCC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Task Aware Dynamic Semantic Compression Framework for 6G Deep JSCC</dc:title>
  <dc:subject>PptxGenJS Presentation</dc:subject>
  <dc:creator>Harshal Yadav, Milind Sharma, P. Chaitanyaprasad, Abhrant R. Pal</dc:creator>
  <cp:lastModifiedBy>Harshal Yadav</cp:lastModifiedBy>
  <cp:revision>29</cp:revision>
  <dcterms:created xsi:type="dcterms:W3CDTF">2026-10-23T06:50:50Z</dcterms:created>
  <dcterms:modified xsi:type="dcterms:W3CDTF">2026-10-23T16:43:31Z</dcterms:modified>
</cp:coreProperties>
</file>
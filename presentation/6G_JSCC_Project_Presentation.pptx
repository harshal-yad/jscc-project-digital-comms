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9DD55347-EB83-5CC0-F2E1-2CB41623FAA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619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citations are on the References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citations are on the References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INSERT: Diagram 1, overall dual-mode block diagram. Image → mode selector → [human branch | machine branch] → AWGN channel → [VAE decoder → image | classifier → label]. Annotate payloads: 16,384 and 128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INSERT: Diagram of transmitter, channel and receiver (system overview).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A: human-mode branch diagram: 512×512×3 → VAE encoder → 4×64×64 latent → AWGN → VAE decoder → reconstructed image.
INSERT B: machine-mode branch diagram: image → 4 Conv blocks → pooling → Linear 128 → AWGN → Linear 2 →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INSERT: Methodology flowchart (7 steps) and/or training flowchart.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INSERT: figure1_qualitative_human_reconstructions.png (Figure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INSERT: figure2_performance_vs_snr.png (Figure 2).
Table: SNR(dB): 25,20,15,10,5,0,-5
MSE: 0.00246, 0.00282, 0.00393, 0.00780, 0.02272, 0.06827, 0.13023
PSNR(dB): 26.34, 25.72, 24.24, 21.19, 16.48, 11.68, 8.86
Machine accuracy(%): 71.7, 71.7, 71.7, 73.3, 71.7, 75.0, 71.7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A: figure5_machine_training_curves.png (Figure 5).
INSERT B: figure6_confusion_matrix_10db.png (Figure 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A: figure3_jscc_vs_digital_cliff_effect.png (Figure 3).
INSERT B: figure_human_jscc_vs_digital_cliff_effect.png (human-mode PSNR vs conceptual digital cliff).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INSERT: figure4_bandwidth_comparison.png (Figure 4).
Table: Raw 786,432 values / 3,145,728 bytes / 0% saving; Human 16,384 / 65,536 / 97.917%; Machine 128 / 512 / 99.984%.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Entries 5-9 and 13-20: add authors/journal from IEEE Xplore before submission. Drop any entry that cannot be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1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05840" y="1554480"/>
            <a:ext cx="9875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Project Title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05840" y="3474720"/>
            <a:ext cx="109728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005840" y="3749040"/>
            <a:ext cx="9875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tx2"/>
                </a:solidFill>
              </a:rPr>
              <a:t>Subtitle / one-line description</a:t>
            </a:r>
            <a:endParaRPr lang="en-US" sz="2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1005840" y="4572000"/>
            <a:ext cx="49377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Student name – Reg. No.</a:t>
            </a:r>
            <a:endParaRPr lang="en-US" sz="16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6309360" y="4572000"/>
            <a:ext cx="49377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Guide name, Designation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2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88920"/>
            <a:ext cx="82296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1752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Section Title</a:t>
            </a: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chemeClr val="accent1"/>
                </a:solidFill>
              </a:rPr>
              <a:t>Section 01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Title  |  Department  |  Institution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3 Title and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Slide title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10911535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tx1"/>
                </a:solidFill>
              </a:rPr>
              <a:t>Add bullet points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Title  |  Department  |  Institution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4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Slide title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521208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tx1"/>
                </a:solidFill>
              </a:rPr>
              <a:t>Left column</a:t>
            </a:r>
            <a:endParaRPr lang="en-US" sz="2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336792" y="1600200"/>
            <a:ext cx="521208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tx1"/>
                </a:solidFill>
              </a:rPr>
              <a:t>Right column</a:t>
            </a:r>
            <a:endParaRPr lang="en-US" sz="2000" dirty="0"/>
          </a:p>
        </p:txBody>
      </p:sp>
      <p:sp>
        <p:nvSpPr>
          <p:cNvPr id="6" name="Shape 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Title  |  Department  |  Institution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5 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Slide title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493776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tx1"/>
                </a:solidFill>
              </a:rPr>
              <a:t>Add bullet points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5943600" y="1600200"/>
            <a:ext cx="5605272" cy="4480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2"/>
          <p:cNvSpPr>
            <a:spLocks noGrp="1"/>
          </p:cNvSpPr>
          <p:nvPr>
            <p:ph idx="104" hasCustomPrompt="1"/>
          </p:nvPr>
        </p:nvSpPr>
        <p:spPr>
          <a:xfrm>
            <a:off x="5943600" y="1600200"/>
            <a:ext cx="5605272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Insert image</a:t>
            </a:r>
            <a:endParaRPr lang="en-US" dirty="0"/>
          </a:p>
        </p:txBody>
      </p:sp>
      <p:sp>
        <p:nvSpPr>
          <p:cNvPr id="7" name="Shape 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Title  |  Department  |  Institution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6 Fig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Figure title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10911535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>
            <a:spLocks noGrp="1"/>
          </p:cNvSpPr>
          <p:nvPr>
            <p:ph idx="103" hasCustomPrompt="1"/>
          </p:nvPr>
        </p:nvSpPr>
        <p:spPr>
          <a:xfrm>
            <a:off x="640080" y="1554480"/>
            <a:ext cx="10911535" cy="3977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Insert figure / plot</a:t>
            </a:r>
            <a:endParaRPr lang="en-US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Caption or key takeaway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Title  |  Department  |  Institution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7 Diagr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Block diagram / flowchart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10911535" cy="4114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>
            <a:spLocks noGrp="1"/>
          </p:cNvSpPr>
          <p:nvPr>
            <p:ph idx="103" hasCustomPrompt="1"/>
          </p:nvPr>
        </p:nvSpPr>
        <p:spPr>
          <a:xfrm>
            <a:off x="640080" y="1554480"/>
            <a:ext cx="10911535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Insert block diagram or flowchart</a:t>
            </a:r>
            <a:endParaRPr lang="en-US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One-line caption</a:t>
            </a:r>
            <a:endParaRPr lang="en-US" sz="1500" dirty="0"/>
          </a:p>
        </p:txBody>
      </p:sp>
      <p:sp>
        <p:nvSpPr>
          <p:cNvPr id="7" name="Shape 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Title  |  Department  |  Institution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8 Two Fig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title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53492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>
            <a:spLocks noGrp="1"/>
          </p:cNvSpPr>
          <p:nvPr>
            <p:ph idx="103" hasCustomPrompt="1"/>
          </p:nvPr>
        </p:nvSpPr>
        <p:spPr>
          <a:xfrm>
            <a:off x="640080" y="1554480"/>
            <a:ext cx="53492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Insert figure A</a:t>
            </a: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6199632" y="1554480"/>
            <a:ext cx="53492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3"/>
          <p:cNvSpPr>
            <a:spLocks noGrp="1"/>
          </p:cNvSpPr>
          <p:nvPr>
            <p:ph idx="105" hasCustomPrompt="1"/>
          </p:nvPr>
        </p:nvSpPr>
        <p:spPr>
          <a:xfrm>
            <a:off x="6199632" y="1554480"/>
            <a:ext cx="53492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Insert figure B</a:t>
            </a:r>
            <a:endParaRPr lang="en-US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640080" y="5029200"/>
            <a:ext cx="5349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Caption A</a:t>
            </a:r>
            <a:endParaRPr lang="en-US" sz="1500" dirty="0"/>
          </a:p>
        </p:txBody>
      </p:sp>
      <p:sp>
        <p:nvSpPr>
          <p:cNvPr id="9" name="Text 3"/>
          <p:cNvSpPr>
            <a:spLocks noGrp="1"/>
          </p:cNvSpPr>
          <p:nvPr>
            <p:ph type="body" idx="107" hasCustomPrompt="1"/>
          </p:nvPr>
        </p:nvSpPr>
        <p:spPr>
          <a:xfrm>
            <a:off x="6199632" y="5029200"/>
            <a:ext cx="5349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Caption B</a:t>
            </a:r>
            <a:endParaRPr lang="en-US" sz="1500" dirty="0"/>
          </a:p>
        </p:txBody>
      </p:sp>
      <p:sp>
        <p:nvSpPr>
          <p:cNvPr id="10" name="Shape 3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Title  |  Department  |  Institution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9 Figure and Discus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title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6766560" cy="4480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>
            <a:spLocks noGrp="1"/>
          </p:cNvSpPr>
          <p:nvPr>
            <p:ph idx="103" hasCustomPrompt="1"/>
          </p:nvPr>
        </p:nvSpPr>
        <p:spPr>
          <a:xfrm>
            <a:off x="640080" y="1600200"/>
            <a:ext cx="676656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Insert figure / plot</a:t>
            </a:r>
            <a:endParaRPr lang="en-US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7726680" y="1600200"/>
            <a:ext cx="3822192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Discussion points</a:t>
            </a:r>
            <a:endParaRPr lang="en-US" sz="1800" dirty="0"/>
          </a:p>
        </p:txBody>
      </p:sp>
      <p:sp>
        <p:nvSpPr>
          <p:cNvPr id="7" name="Shape 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Title  |  Department  |  Institution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10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Table title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Table note / takeaway</a:t>
            </a:r>
            <a:endParaRPr lang="en-US" sz="1500" dirty="0"/>
          </a:p>
        </p:txBody>
      </p:sp>
      <p:sp>
        <p:nvSpPr>
          <p:cNvPr id="5" name="Shape 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Title  |  Department  |  Institution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11 Referenc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[1] Author, Title, Journal, Year.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Title  |  Department  |  Institution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12 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05840" y="2377440"/>
            <a:ext cx="98755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1005840" y="3749040"/>
            <a:ext cx="109728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005840" y="4023360"/>
            <a:ext cx="98755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tx2"/>
                </a:solidFill>
              </a:rPr>
              <a:t>Questions? | contact@email.com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13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Title  |  Department  |  Institution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05840" y="15544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dirty="0"/>
              <a:t>Task Aware Dynamic Semantic Compression Framework for 6G Deep JSCC</a:t>
            </a:r>
            <a:endParaRPr lang="en-US" sz="40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1005840" y="4572000"/>
            <a:ext cx="4937760" cy="132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/>
              <a:t>Harshal Yadav</a:t>
            </a:r>
            <a:r>
              <a:rPr lang="en-US" sz="1600" dirty="0">
                <a:solidFill>
                  <a:schemeClr val="tx1"/>
                </a:solidFill>
              </a:rPr>
              <a:t> – </a:t>
            </a:r>
            <a:r>
              <a:rPr lang="en-US" dirty="0"/>
              <a:t>24BEC0639</a:t>
            </a:r>
            <a:endParaRPr lang="en-US" sz="1600" dirty="0"/>
          </a:p>
          <a:p>
            <a:r>
              <a:rPr lang="en-US" dirty="0"/>
              <a:t>Milind Sharma</a:t>
            </a:r>
            <a:r>
              <a:rPr lang="en-US" sz="1600" dirty="0">
                <a:solidFill>
                  <a:schemeClr val="tx1"/>
                </a:solidFill>
              </a:rPr>
              <a:t> – </a:t>
            </a:r>
            <a:r>
              <a:rPr lang="en-US" dirty="0"/>
              <a:t>24BEC0078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dirty="0"/>
              <a:t>P. </a:t>
            </a:r>
            <a:r>
              <a:rPr lang="en-US" dirty="0" err="1"/>
              <a:t>Chaitanyaprasad</a:t>
            </a:r>
            <a:r>
              <a:rPr lang="en-US" dirty="0"/>
              <a:t> – 24BEC0551</a:t>
            </a:r>
          </a:p>
          <a:p>
            <a:r>
              <a:rPr lang="en-US" dirty="0"/>
              <a:t>Abhrant R. Pal – 24BEC0545</a:t>
            </a:r>
            <a:endParaRPr lang="en-US" sz="1600" dirty="0"/>
          </a:p>
        </p:txBody>
      </p:sp>
      <p:sp>
        <p:nvSpPr>
          <p:cNvPr id="5" name="Text 2"/>
          <p:cNvSpPr>
            <a:spLocks noGrp="1"/>
          </p:cNvSpPr>
          <p:nvPr>
            <p:ph type="body" idx="105" hasCustomPrompt="1"/>
          </p:nvPr>
        </p:nvSpPr>
        <p:spPr>
          <a:xfrm>
            <a:off x="6309360" y="4572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/>
              <a:t>Dr. </a:t>
            </a:r>
            <a:r>
              <a:rPr lang="en-US" b="1" dirty="0" err="1"/>
              <a:t>Thanikaiselvan</a:t>
            </a:r>
            <a:r>
              <a:rPr lang="en-US" b="1" dirty="0"/>
              <a:t> V.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Professor, SENSE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1" y="1600200"/>
            <a:ext cx="69166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6G shifts from bit-accurate delivery to meaning- and task-oriented delivery. </a:t>
            </a:r>
            <a:r>
              <a:rPr lang="en-US" sz="2000" dirty="0">
                <a:solidFill>
                  <a:schemeClr val="tx1"/>
                </a:solidFill>
              </a:rPr>
              <a:t>Raw camera and sensor data is too large for the radio link.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Cliff effect: </a:t>
            </a:r>
            <a:r>
              <a:rPr lang="en-US" sz="2000" dirty="0">
                <a:solidFill>
                  <a:schemeClr val="tx1"/>
                </a:solidFill>
              </a:rPr>
              <a:t>separate source and channel coding fails abruptly below a threshold SNR, while JSCC degrades gradually.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Receivers differ: </a:t>
            </a:r>
            <a:r>
              <a:rPr lang="en-US" sz="2000" dirty="0">
                <a:solidFill>
                  <a:schemeClr val="tx1"/>
                </a:solidFill>
              </a:rPr>
              <a:t>a human operator needs a viewable image; a machine (traffic AI) needs only task-relevant semantics.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Proposed system: </a:t>
            </a:r>
            <a:r>
              <a:rPr lang="en-US" sz="2000" dirty="0">
                <a:solidFill>
                  <a:schemeClr val="tx1"/>
                </a:solidFill>
              </a:rPr>
              <a:t>one transmitter, two modes.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Use case: </a:t>
            </a:r>
            <a:r>
              <a:rPr lang="en-US" sz="2000" dirty="0">
                <a:solidFill>
                  <a:schemeClr val="tx1"/>
                </a:solidFill>
              </a:rPr>
              <a:t>traffic imagery (highway vs urban).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852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2606D"/>
                </a:solidFill>
              </a:rPr>
              <a:t>Human mode: </a:t>
            </a:r>
            <a:r>
              <a:rPr lang="en-US" sz="1600" dirty="0">
                <a:solidFill>
                  <a:srgbClr val="52606D"/>
                </a:solidFill>
              </a:rPr>
              <a:t>compressed latent, reconstructed image.   </a:t>
            </a:r>
            <a:r>
              <a:rPr lang="en-US" sz="1600" b="1" dirty="0">
                <a:solidFill>
                  <a:srgbClr val="52606D"/>
                </a:solidFill>
              </a:rPr>
              <a:t>Machine mode: </a:t>
            </a:r>
            <a:r>
              <a:rPr lang="en-US" sz="1600" dirty="0">
                <a:solidFill>
                  <a:srgbClr val="52606D"/>
                </a:solidFill>
              </a:rPr>
              <a:t>128-value semantic vector, classification.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0A6778-0B6E-8B3C-243F-B108B0154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244" y="153733"/>
            <a:ext cx="3814371" cy="2822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7402E3-25A1-B7B1-55DB-79649CDC8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954" y="3090951"/>
            <a:ext cx="3810661" cy="27990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Literature Review: Foundations, Surveys and Deep JSCC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855713"/>
              </p:ext>
            </p:extLst>
          </p:nvPr>
        </p:nvGraphicFramePr>
        <p:xfrm>
          <a:off x="640080" y="1554480"/>
          <a:ext cx="10908792" cy="36576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this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Nguyen et al., IEEE COMST,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Survey: theory of mind, generative AI and deep JSCC for semantic 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the shift to meaning-centric 6G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Huang et al., D²-JSCC, IEEE JSAC,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deep JSCC that works with practical digital transceivers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 JSCC and real digital links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et al., SwinJSCC, IEEE TCCN,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Swin-Transformer JSCC, adaptive to SNR and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backbone for future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Semantic-aided parallel image transmission, IEEE TWC,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JSCC compatible with practical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Coexistence with conventional 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base with fine-grained HARQ, IEEE TWC,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semantic image transmission with HARQ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extension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Zia et al., Computer Networks,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on explainable AI for semantic 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Jain et al., IEEE Commun. Standards Mag.,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Standardization of AI-native 6G and semantic protocols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Places work in 6G standards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Surveys and deep JSCC show gradual degradation and practical compatibility, but target a single objective.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Literature Review: Task-Oriented and Generative Approaches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749429"/>
              </p:ext>
            </p:extLst>
          </p:nvPr>
        </p:nvGraphicFramePr>
        <p:xfrm>
          <a:off x="640080" y="1554480"/>
          <a:ext cx="10908792" cy="36576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this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Diao et al., IEEE JSAC,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Aligns task- and reconstruction-oriented communications for edge 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to the dual-objective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DRL + information bottleneck, IEEE JSAC,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Task-oriented semantic communication with IB and deep 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only task-relevant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learning over MIMO, IEEE JSAC,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Information-theoretic task-oriented design over MIMO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MIMO extension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Semantics-guided diffusion for DeepJSCC, IEEE TWC,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 guided by semantics improves wireless image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for human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Semantic-prior latent diffusion, IEEE TWC,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Channel-adaptive equalizing and denoising with latent diffusion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Latent-based, like our VAE branch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Visual-language-model cross-modal SC, IEEE TWC,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 semantic communication with a VLM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Richer semantic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RSMA panoramic video semantic transmission, IEEE TWC,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semantic video transmission with RSMA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Multi-user extension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Most work optimizes reconstruction or a task, rarely both in one lightweight design with explicit bandwidth accounting.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Research Gap</a:t>
            </a:r>
            <a:endParaRPr lang="en-US" sz="3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1091153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Existing JSCC work optimizes either pixel reconstruction (human) or task accuracy (machine), rarely both in one architecture.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Many designs ignore the transmitted payload size, a major cost in 6G links.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Digital pipelines have a threshold SNR below which they fail completely.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No simple, reproducible, lightweight dual-mode demonstrator with explicit bandwidth accounting for traffic imagery.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1091153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Design a dual-branch semantic transmitter: human mode (VAE latent) and machine mode (128-d semantic vector).</a:t>
            </a:r>
            <a:endParaRPr lang="en-US" sz="2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Model the wireless link as a power-normalized AWGN channel over SNR −5 to 25 dB.</a:t>
            </a:r>
            <a:endParaRPr lang="en-US" sz="2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Train the machine branch with SNR-randomized training for channel robustness.</a:t>
            </a:r>
            <a:endParaRPr lang="en-US" sz="2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Quantify human-mode fidelity (MSE, PSNR) and machine-mode accuracy across SNR.</a:t>
            </a:r>
            <a:endParaRPr lang="en-US" sz="2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Quantify bandwidth savings against raw transmission.</a:t>
            </a:r>
            <a:endParaRPr lang="en-US" sz="2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Compare JSCC behavior with a conceptual digital outage (cliff) model.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Implementation Details</a:t>
            </a:r>
            <a:endParaRPr lang="en-US" sz="3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</a:rPr>
              <a:t>Language / framework: </a:t>
            </a:r>
            <a:r>
              <a:rPr lang="en-US" dirty="0">
                <a:solidFill>
                  <a:schemeClr val="tx1"/>
                </a:solidFill>
              </a:rPr>
              <a:t>Python 3, PyTorch, torchvision</a:t>
            </a:r>
            <a:endParaRPr lang="en-US" sz="2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</a:rPr>
              <a:t>Libraries: </a:t>
            </a:r>
            <a:r>
              <a:rPr lang="en-US" dirty="0">
                <a:solidFill>
                  <a:schemeClr val="tx1"/>
                </a:solidFill>
              </a:rPr>
              <a:t>Hugging Face diffusers (AutoencoderKL), scikit-learn, NumPy, Matplotlib, Seaborn</a:t>
            </a:r>
            <a:endParaRPr lang="en-US" sz="2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</a:rPr>
              <a:t>Platform: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Notebook</a:t>
            </a:r>
            <a:endParaRPr lang="en-US" sz="2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</a:rPr>
              <a:t>Pretrained model: </a:t>
            </a:r>
            <a:r>
              <a:rPr lang="en-US" dirty="0">
                <a:solidFill>
                  <a:schemeClr val="tx1"/>
                </a:solidFill>
              </a:rPr>
              <a:t>stabilityai/</a:t>
            </a:r>
            <a:r>
              <a:rPr lang="en-US" dirty="0" err="1">
                <a:solidFill>
                  <a:schemeClr val="tx1"/>
                </a:solidFill>
              </a:rPr>
              <a:t>sd</a:t>
            </a:r>
            <a:r>
              <a:rPr lang="en-US" dirty="0">
                <a:solidFill>
                  <a:schemeClr val="tx1"/>
                </a:solidFill>
              </a:rPr>
              <a:t>-</a:t>
            </a:r>
            <a:r>
              <a:rPr lang="en-US" dirty="0" err="1">
                <a:solidFill>
                  <a:schemeClr val="tx1"/>
                </a:solidFill>
              </a:rPr>
              <a:t>vae</a:t>
            </a:r>
            <a:r>
              <a:rPr lang="en-US" dirty="0">
                <a:solidFill>
                  <a:schemeClr val="tx1"/>
                </a:solidFill>
              </a:rPr>
              <a:t>-ft-</a:t>
            </a:r>
            <a:r>
              <a:rPr lang="en-US" dirty="0" err="1">
                <a:solidFill>
                  <a:schemeClr val="tx1"/>
                </a:solidFill>
              </a:rPr>
              <a:t>mse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336792" y="16002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</a:rPr>
              <a:t>Dataset: </a:t>
            </a:r>
            <a:r>
              <a:rPr lang="en-US" dirty="0">
                <a:solidFill>
                  <a:schemeClr val="tx1"/>
                </a:solidFill>
              </a:rPr>
              <a:t>traffic_data, 200 images, 2 classes (highway, urban), resized to 512×512</a:t>
            </a:r>
            <a:endParaRPr lang="en-US" sz="2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</a:rPr>
              <a:t>Split: </a:t>
            </a:r>
            <a:r>
              <a:rPr lang="en-US" dirty="0">
                <a:solidFill>
                  <a:schemeClr val="tx1"/>
                </a:solidFill>
              </a:rPr>
              <a:t>140 train (87/53), 60 machine test (37/23), 20 human test (12/8)</a:t>
            </a:r>
            <a:endParaRPr lang="en-US" sz="2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</a:rPr>
              <a:t>Training: </a:t>
            </a:r>
            <a:r>
              <a:rPr lang="en-US" dirty="0">
                <a:solidFill>
                  <a:schemeClr val="tx1"/>
                </a:solidFill>
              </a:rPr>
              <a:t>AdamW, lr 1e-3, weight decay 1e-4, 80 epochs, cross-entropy, seed 6</a:t>
            </a:r>
            <a:endParaRPr lang="en-US" sz="2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</a:rPr>
              <a:t>Status: </a:t>
            </a:r>
            <a:r>
              <a:rPr lang="en-US" dirty="0">
                <a:solidFill>
                  <a:schemeClr val="tx1"/>
                </a:solidFill>
              </a:rPr>
              <a:t>dual architecture, AWGN channel, training, evaluation and Figures 1–6 complete; digital baseline is conceptual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Block Diagram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5A0EE94B-B82C-53DC-1A21-599919D129A5}"/>
              </a:ext>
            </a:extLst>
          </p:cNvPr>
          <p:cNvPicPr>
            <a:picLocks noGrp="1" noChangeAspect="1"/>
          </p:cNvPicPr>
          <p:nvPr>
            <p:ph idx="103"/>
          </p:nvPr>
        </p:nvPicPr>
        <p:blipFill>
          <a:blip r:embed="rId3"/>
          <a:stretch>
            <a:fillRect/>
          </a:stretch>
        </p:blipFill>
        <p:spPr>
          <a:xfrm>
            <a:off x="639763" y="1570009"/>
            <a:ext cx="10912475" cy="4071668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Overview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4937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Transmitter: </a:t>
            </a:r>
            <a:r>
              <a:rPr lang="en-US" sz="1800" dirty="0">
                <a:solidFill>
                  <a:schemeClr val="tx1"/>
                </a:solidFill>
              </a:rPr>
              <a:t>takes a 512×512×3 image and selects the mode.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Human mode: </a:t>
            </a:r>
            <a:r>
              <a:rPr lang="en-US" sz="1800" dirty="0">
                <a:solidFill>
                  <a:schemeClr val="tx1"/>
                </a:solidFill>
              </a:rPr>
              <a:t>frozen VAE encoder → 4×64×64 latent (16,384 values).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Machine mode: </a:t>
            </a:r>
            <a:r>
              <a:rPr lang="en-US" sz="1800" dirty="0">
                <a:solidFill>
                  <a:schemeClr val="tx1"/>
                </a:solidFill>
              </a:rPr>
              <a:t>lightweight CNN → 128 values.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Channel: </a:t>
            </a:r>
            <a:r>
              <a:rPr lang="en-US" sz="1800" dirty="0">
                <a:solidFill>
                  <a:schemeClr val="tx1"/>
                </a:solidFill>
              </a:rPr>
              <a:t>AWGN, noise power = signal power / 10^(SNR/10).</a:t>
            </a:r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BA6CE1-6457-050F-4770-A71698BBF0C6}"/>
              </a:ext>
            </a:extLst>
          </p:cNvPr>
          <p:cNvPicPr>
            <a:picLocks noGrp="1" noChangeAspect="1"/>
          </p:cNvPicPr>
          <p:nvPr>
            <p:ph idx="104"/>
          </p:nvPr>
        </p:nvPicPr>
        <p:blipFill>
          <a:blip r:embed="rId3"/>
          <a:stretch>
            <a:fillRect/>
          </a:stretch>
        </p:blipFill>
        <p:spPr>
          <a:xfrm>
            <a:off x="5909095" y="365760"/>
            <a:ext cx="5642520" cy="5714365"/>
          </a:xfrm>
          <a:prstGeom prst="rect">
            <a:avLst/>
          </a:prstGeom>
          <a:noFill/>
          <a:ln/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Overview: Receiver Branches</a:t>
            </a:r>
            <a:endParaRPr lang="en-US" sz="3000" dirty="0"/>
          </a:p>
        </p:txBody>
      </p:sp>
      <p:sp>
        <p:nvSpPr>
          <p:cNvPr id="4" name="Text 3"/>
          <p:cNvSpPr>
            <a:spLocks noGrp="1"/>
          </p:cNvSpPr>
          <p:nvPr>
            <p:ph type="body" idx="106" hasCustomPrompt="1"/>
          </p:nvPr>
        </p:nvSpPr>
        <p:spPr>
          <a:xfrm>
            <a:off x="640080" y="502920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Human mode: VAE decoder reconstructs the image from the noisy latent.</a:t>
            </a:r>
            <a:endParaRPr lang="en-US" sz="1500" dirty="0"/>
          </a:p>
        </p:txBody>
      </p:sp>
      <p:sp>
        <p:nvSpPr>
          <p:cNvPr id="5" name="Text 3"/>
          <p:cNvSpPr>
            <a:spLocks noGrp="1"/>
          </p:cNvSpPr>
          <p:nvPr>
            <p:ph type="body" idx="107" hasCustomPrompt="1"/>
          </p:nvPr>
        </p:nvSpPr>
        <p:spPr>
          <a:xfrm>
            <a:off x="6199632" y="502920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Machine mode: linear classifier outputs highway / urban from the noisy 128-d vector. Sanity check: empirical SNR measured against target.</a:t>
            </a:r>
            <a:endParaRPr lang="en-US" sz="15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466B190-290E-046D-B491-1F24D717A25C}"/>
              </a:ext>
            </a:extLst>
          </p:cNvPr>
          <p:cNvPicPr>
            <a:picLocks noGrp="1" noChangeAspect="1"/>
          </p:cNvPicPr>
          <p:nvPr>
            <p:ph idx="103"/>
          </p:nvPr>
        </p:nvPicPr>
        <p:blipFill>
          <a:blip r:embed="rId3"/>
          <a:stretch>
            <a:fillRect/>
          </a:stretch>
        </p:blipFill>
        <p:spPr>
          <a:xfrm>
            <a:off x="631137" y="1603006"/>
            <a:ext cx="5349875" cy="3285275"/>
          </a:xfrm>
          <a:prstGeom prst="rect">
            <a:avLst/>
          </a:prstGeom>
          <a:noFill/>
          <a:ln/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8287A12-C87B-A4E8-61A0-E7D78DE9840E}"/>
              </a:ext>
            </a:extLst>
          </p:cNvPr>
          <p:cNvPicPr>
            <a:picLocks noGrp="1" noChangeAspect="1"/>
          </p:cNvPicPr>
          <p:nvPr>
            <p:ph idx="105"/>
          </p:nvPr>
        </p:nvPicPr>
        <p:blipFill>
          <a:blip r:embed="rId4"/>
          <a:stretch>
            <a:fillRect/>
          </a:stretch>
        </p:blipFill>
        <p:spPr>
          <a:xfrm>
            <a:off x="6199188" y="1619372"/>
            <a:ext cx="5349875" cy="3252544"/>
          </a:xfrm>
          <a:prstGeom prst="rect">
            <a:avLst/>
          </a:prstGeom>
          <a:noFill/>
          <a:ln/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Design: Semantic Encoder and Classifier (Machine Mode)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35112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512 × 512, normalized to [−1, 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→ 24, 5×5, stride 4, BatchNorm, GELU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→ 48, 3×3, stride 2, BatchNorm, GELU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→ 96, 3×3, stride 2, BatchNorm, GELU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→ 128, 3×3, stride 2, BatchNorm, GELU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+ 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average pool → Linear(128 → 128): transmitted vector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Linear(128 →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AWGN-augmented training: one SNR drawn at random per batch from {25, 20, 15, 10, 5, 0, −5} dB.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Methodology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4937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Load dataset, resize, normalize, stratified split.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Freeze the VAE; build the semantic encoder and classifier.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Train the machine branch with the noisy channel in the loop.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Evaluate both branches at 7 SNR levels on held-out images.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Compute MSE, PSNR = −10·log10(MSE) and accuracy.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Compute payload sizes and savings.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 with the conceptual digital outage model (5 dB).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0A19DF2-9320-571D-2339-73488AFEEA81}"/>
              </a:ext>
            </a:extLst>
          </p:cNvPr>
          <p:cNvPicPr>
            <a:picLocks noGrp="1" noChangeAspect="1"/>
          </p:cNvPicPr>
          <p:nvPr>
            <p:ph idx="104"/>
          </p:nvPr>
        </p:nvPicPr>
        <p:blipFill>
          <a:blip r:embed="rId3"/>
          <a:stretch>
            <a:fillRect/>
          </a:stretch>
        </p:blipFill>
        <p:spPr>
          <a:xfrm>
            <a:off x="5943600" y="1600200"/>
            <a:ext cx="5605463" cy="4480559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Algorithm</a:t>
            </a:r>
            <a:endParaRPr lang="en-US" sz="3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(machine mode)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epoch: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batch (x, y):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 &lt;- random SNR from S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  &lt;- Encoder(x)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z' &lt;- z + N(0, P(z)/10^(s/10))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&lt;- CE(Classifier(z'), y)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 Encoder, Classifier (AdamW)</a:t>
            </a:r>
            <a:endParaRPr lang="en-US" sz="2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336792" y="16002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Human: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  &lt;- VAE.enc(x) * 0.18215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l' &lt;- AWGN(l, snr)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x^ &lt;- VAE.dec(l' / 0.18215)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Machine: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  &lt;- Encoder(x)</a:t>
            </a:r>
            <a:endParaRPr lang="en-US" sz="2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y^ &lt;- argmax Classifier(AWGN(z, snr))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Novelty</a:t>
            </a:r>
            <a:endParaRPr lang="en-US" sz="3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1091153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Dual-mode framework: </a:t>
            </a:r>
            <a:r>
              <a:rPr lang="en-US" sz="2000" dirty="0">
                <a:solidFill>
                  <a:schemeClr val="tx1"/>
                </a:solidFill>
              </a:rPr>
              <a:t>one design serves both human and machine receivers with different payloads.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Extreme payload reduction: </a:t>
            </a:r>
            <a:r>
              <a:rPr lang="en-US" sz="2000" dirty="0">
                <a:solidFill>
                  <a:schemeClr val="tx1"/>
                </a:solidFill>
              </a:rPr>
              <a:t>97.92% (human) and 99.98% (machine) fewer values than raw.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Channel-robust training: </a:t>
            </a:r>
            <a:r>
              <a:rPr lang="en-US" sz="2000" dirty="0">
                <a:solidFill>
                  <a:schemeClr val="tx1"/>
                </a:solidFill>
              </a:rPr>
              <a:t>randomized-SNR AWGN augmentation.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Cliff comparison: </a:t>
            </a:r>
            <a:r>
              <a:rPr lang="en-US" sz="2000" dirty="0">
                <a:solidFill>
                  <a:schemeClr val="tx1"/>
                </a:solidFill>
              </a:rPr>
              <a:t>explicit comparison of graceful degradation against a digital cliff model.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Lightweight and reproducible: </a:t>
            </a:r>
            <a:r>
              <a:rPr lang="en-US" sz="2000" dirty="0">
                <a:solidFill>
                  <a:schemeClr val="tx1"/>
                </a:solidFill>
              </a:rPr>
              <a:t>seeded notebook, small CNN, pretrained VAE, no heavy training.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1: Human-Mode Reconstruction</a:t>
            </a:r>
            <a:endParaRPr lang="en-US" sz="30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Original and reconstructions at 20, 10, 5 and 0 </a:t>
            </a:r>
            <a:r>
              <a:rPr lang="en-US" sz="1600" dirty="0" err="1">
                <a:solidFill>
                  <a:schemeClr val="tx2"/>
                </a:solidFill>
              </a:rPr>
              <a:t>dB.</a:t>
            </a:r>
            <a:r>
              <a:rPr lang="en-US" sz="1600" dirty="0">
                <a:solidFill>
                  <a:schemeClr val="tx2"/>
                </a:solidFill>
              </a:rPr>
              <a:t> Quality degrades smoothly as SNR drops.</a:t>
            </a:r>
            <a:endParaRPr lang="en-US" sz="1600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414D362A-A162-519E-F92D-5E9A44C0FDE5}"/>
              </a:ext>
            </a:extLst>
          </p:cNvPr>
          <p:cNvPicPr>
            <a:picLocks noGrp="1" noChangeAspect="1"/>
          </p:cNvPicPr>
          <p:nvPr>
            <p:ph idx="103"/>
          </p:nvPr>
        </p:nvPicPr>
        <p:blipFill>
          <a:blip r:embed="rId3"/>
          <a:stretch>
            <a:fillRect/>
          </a:stretch>
        </p:blipFill>
        <p:spPr>
          <a:xfrm>
            <a:off x="648389" y="1552755"/>
            <a:ext cx="10912475" cy="40285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2: Performance versus SNR</a:t>
            </a:r>
            <a:endParaRPr lang="en-US" sz="30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7726680" y="1600200"/>
            <a:ext cx="3822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Human mode: </a:t>
            </a:r>
            <a:r>
              <a:rPr lang="en-US" sz="2000" dirty="0">
                <a:solidFill>
                  <a:schemeClr val="tx1"/>
                </a:solidFill>
              </a:rPr>
              <a:t>PSNR falls smoothly from 26.34 dB (25 dB SNR) to 8.86 dB (−5 dB SNR); no cliff.</a:t>
            </a:r>
            <a:endParaRPr lang="en-US" sz="2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Machine mode: </a:t>
            </a:r>
            <a:r>
              <a:rPr lang="en-US" sz="2000" dirty="0">
                <a:solidFill>
                  <a:schemeClr val="tx1"/>
                </a:solidFill>
              </a:rPr>
              <a:t>accuracy stays at 71.7–75.0% over the whole SNR range (n = 60).</a:t>
            </a:r>
            <a:endParaRPr lang="en-US" sz="2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Reading: </a:t>
            </a:r>
            <a:r>
              <a:rPr lang="en-US" sz="2000" dirty="0">
                <a:solidFill>
                  <a:schemeClr val="tx1"/>
                </a:solidFill>
              </a:rPr>
              <a:t>accuracy does not collapse as noise grows, showing channel robustness of the semantic vector.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F9FA67C-6DE2-2359-041D-72A0FFE37C79}"/>
              </a:ext>
            </a:extLst>
          </p:cNvPr>
          <p:cNvPicPr>
            <a:picLocks noGrp="1" noChangeAspect="1"/>
          </p:cNvPicPr>
          <p:nvPr>
            <p:ph idx="103"/>
          </p:nvPr>
        </p:nvPicPr>
        <p:blipFill>
          <a:blip r:embed="rId3"/>
          <a:stretch>
            <a:fillRect/>
          </a:stretch>
        </p:blipFill>
        <p:spPr>
          <a:xfrm>
            <a:off x="639763" y="1600200"/>
            <a:ext cx="676751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3: Training Behavior and Confusion Matrix</a:t>
            </a:r>
            <a:endParaRPr lang="en-US" sz="3000" dirty="0"/>
          </a:p>
        </p:txBody>
      </p:sp>
      <p:sp>
        <p:nvSpPr>
          <p:cNvPr id="4" name="Text 3"/>
          <p:cNvSpPr>
            <a:spLocks noGrp="1"/>
          </p:cNvSpPr>
          <p:nvPr>
            <p:ph type="body" idx="106" hasCustomPrompt="1"/>
          </p:nvPr>
        </p:nvSpPr>
        <p:spPr>
          <a:xfrm>
            <a:off x="640080" y="502920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Figure 5. Training loss and accuracy over 80 epochs; training accuracy reaches 98%.</a:t>
            </a:r>
            <a:endParaRPr lang="en-US" sz="1500" dirty="0"/>
          </a:p>
        </p:txBody>
      </p:sp>
      <p:sp>
        <p:nvSpPr>
          <p:cNvPr id="5" name="Text 3"/>
          <p:cNvSpPr>
            <a:spLocks noGrp="1"/>
          </p:cNvSpPr>
          <p:nvPr>
            <p:ph type="body" idx="107" hasCustomPrompt="1"/>
          </p:nvPr>
        </p:nvSpPr>
        <p:spPr>
          <a:xfrm>
            <a:off x="6199632" y="502920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Figure 6. Confusion matrix on the held-out set (n = 60) at 10 dB SNR: 73.33% accuracy. The train–test gap reflects the small dataset.</a:t>
            </a:r>
            <a:endParaRPr lang="en-US" sz="1500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B7795C60-943C-0F59-54F9-DFAC9A3F721B}"/>
              </a:ext>
            </a:extLst>
          </p:cNvPr>
          <p:cNvPicPr>
            <a:picLocks noGrp="1" noChangeAspect="1"/>
          </p:cNvPicPr>
          <p:nvPr>
            <p:ph idx="103"/>
          </p:nvPr>
        </p:nvPicPr>
        <p:blipFill>
          <a:blip r:embed="rId3"/>
          <a:stretch>
            <a:fillRect/>
          </a:stretch>
        </p:blipFill>
        <p:spPr>
          <a:xfrm>
            <a:off x="639763" y="1554480"/>
            <a:ext cx="5349875" cy="338328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E1A388-D4DE-D19C-AFC6-A3DE99C83A7F}"/>
              </a:ext>
            </a:extLst>
          </p:cNvPr>
          <p:cNvPicPr>
            <a:picLocks noGrp="1" noChangeAspect="1"/>
          </p:cNvPicPr>
          <p:nvPr>
            <p:ph idx="105"/>
          </p:nvPr>
        </p:nvPicPr>
        <p:blipFill>
          <a:blip r:embed="rId4"/>
          <a:stretch>
            <a:fillRect/>
          </a:stretch>
        </p:blipFill>
        <p:spPr>
          <a:xfrm>
            <a:off x="6208257" y="1554163"/>
            <a:ext cx="5351983" cy="33829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4: Graceful Degradation vs Digital Cliff</a:t>
            </a:r>
            <a:endParaRPr lang="en-US" sz="3000" dirty="0"/>
          </a:p>
        </p:txBody>
      </p:sp>
      <p:sp>
        <p:nvSpPr>
          <p:cNvPr id="4" name="Text 3"/>
          <p:cNvSpPr>
            <a:spLocks noGrp="1"/>
          </p:cNvSpPr>
          <p:nvPr>
            <p:ph type="body" idx="106" hasCustomPrompt="1"/>
          </p:nvPr>
        </p:nvSpPr>
        <p:spPr>
          <a:xfrm>
            <a:off x="640080" y="502920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Figure 3. Machine-mode accuracy vs a conceptual digital baseline (assumed 5 dB outage threshold).</a:t>
            </a:r>
            <a:endParaRPr lang="en-US" sz="1500" dirty="0"/>
          </a:p>
        </p:txBody>
      </p:sp>
      <p:sp>
        <p:nvSpPr>
          <p:cNvPr id="5" name="Text 3"/>
          <p:cNvSpPr>
            <a:spLocks noGrp="1"/>
          </p:cNvSpPr>
          <p:nvPr>
            <p:ph type="body" idx="107" hasCustomPrompt="1"/>
          </p:nvPr>
        </p:nvSpPr>
        <p:spPr>
          <a:xfrm>
            <a:off x="6199632" y="502920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</a:rPr>
              <a:t>Human-mode PSNR vs a conceptual digital image link. JSCC degrades gradually; the digital link does not.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14EE106-E97A-1321-AF9F-25C799EC289D}"/>
              </a:ext>
            </a:extLst>
          </p:cNvPr>
          <p:cNvPicPr>
            <a:picLocks noGrp="1" noChangeAspect="1"/>
          </p:cNvPicPr>
          <p:nvPr>
            <p:ph idx="105"/>
          </p:nvPr>
        </p:nvPicPr>
        <p:blipFill>
          <a:blip r:embed="rId3"/>
          <a:stretch>
            <a:fillRect/>
          </a:stretch>
        </p:blipFill>
        <p:spPr>
          <a:xfrm>
            <a:off x="6199632" y="1554163"/>
            <a:ext cx="5351983" cy="3382962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60BCF64-3A3F-B50C-81AB-23E2103A2963}"/>
              </a:ext>
            </a:extLst>
          </p:cNvPr>
          <p:cNvPicPr>
            <a:picLocks noGrp="1" noChangeAspect="1"/>
          </p:cNvPicPr>
          <p:nvPr>
            <p:ph idx="103"/>
          </p:nvPr>
        </p:nvPicPr>
        <p:blipFill>
          <a:blip r:embed="rId4"/>
          <a:stretch>
            <a:fillRect/>
          </a:stretch>
        </p:blipFill>
        <p:spPr>
          <a:xfrm>
            <a:off x="640080" y="1554163"/>
            <a:ext cx="5349240" cy="33829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5: Bandwidth Consumption</a:t>
            </a:r>
            <a:endParaRPr lang="en-US" sz="30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7726680" y="1600200"/>
            <a:ext cx="3822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Raw image: </a:t>
            </a:r>
            <a:r>
              <a:rPr lang="en-US" sz="2000" dirty="0">
                <a:solidFill>
                  <a:schemeClr val="tx1"/>
                </a:solidFill>
              </a:rPr>
              <a:t>786,432 float32 values (3.15 MB).</a:t>
            </a:r>
            <a:endParaRPr lang="en-US" sz="2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Human mode: </a:t>
            </a:r>
            <a:r>
              <a:rPr lang="en-US" sz="2000" dirty="0">
                <a:solidFill>
                  <a:schemeClr val="tx1"/>
                </a:solidFill>
              </a:rPr>
              <a:t>16,384 values (65.5 KB), 97.92% saving, 48× compression.</a:t>
            </a:r>
            <a:endParaRPr lang="en-US" sz="2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Machine mode: </a:t>
            </a:r>
            <a:r>
              <a:rPr lang="en-US" sz="2000" dirty="0">
                <a:solidFill>
                  <a:schemeClr val="tx1"/>
                </a:solidFill>
              </a:rPr>
              <a:t>128 values (512 B), 99.98% saving, 6,144× compression.</a:t>
            </a:r>
            <a:endParaRPr lang="en-US" sz="2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Machine vs human: </a:t>
            </a:r>
            <a:r>
              <a:rPr lang="en-US" sz="2000" dirty="0">
                <a:solidFill>
                  <a:schemeClr val="tx1"/>
                </a:solidFill>
              </a:rPr>
              <a:t>a further 128× reduction.</a:t>
            </a:r>
            <a:endParaRPr lang="en-US" sz="2400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004687ED-9801-0F41-A986-3A4711F3DA4A}"/>
              </a:ext>
            </a:extLst>
          </p:cNvPr>
          <p:cNvPicPr>
            <a:picLocks noGrp="1" noChangeAspect="1"/>
          </p:cNvPicPr>
          <p:nvPr>
            <p:ph idx="103"/>
          </p:nvPr>
        </p:nvPicPr>
        <p:blipFill>
          <a:blip r:embed="rId3"/>
          <a:stretch>
            <a:fillRect/>
          </a:stretch>
        </p:blipFill>
        <p:spPr>
          <a:xfrm>
            <a:off x="640081" y="1600200"/>
            <a:ext cx="6787262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SDG Mapping</a:t>
            </a:r>
            <a:endParaRPr lang="en-US" sz="3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SDG 9: Industry, Innovation and Infrastructure. </a:t>
            </a:r>
            <a:r>
              <a:rPr lang="en-US" sz="2400" dirty="0">
                <a:solidFill>
                  <a:schemeClr val="tx1"/>
                </a:solidFill>
              </a:rPr>
              <a:t>Efficient, AI-native 6G communication infrastructure.</a:t>
            </a:r>
            <a:endParaRPr lang="en-US" sz="28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SDG 11: Sustainable Cities and Communities. </a:t>
            </a:r>
            <a:r>
              <a:rPr lang="en-US" sz="2400" dirty="0">
                <a:solidFill>
                  <a:schemeClr val="tx1"/>
                </a:solidFill>
              </a:rPr>
              <a:t>Bandwidth-efficient traffic monitoring for smart cities.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336792" y="16002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SDG 13: Climate Action. </a:t>
            </a:r>
            <a:r>
              <a:rPr lang="en-US" sz="2400" dirty="0">
                <a:solidFill>
                  <a:schemeClr val="tx1"/>
                </a:solidFill>
              </a:rPr>
              <a:t>Fewer transmitted values means lower communication energy.</a:t>
            </a:r>
            <a:endParaRPr lang="en-US" sz="28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SDG 3: Good Health and Well-being. </a:t>
            </a:r>
            <a:r>
              <a:rPr lang="en-US" sz="2400" dirty="0">
                <a:solidFill>
                  <a:schemeClr val="tx1"/>
                </a:solidFill>
              </a:rPr>
              <a:t>Faster road-incident detection for safety.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Conclusion and Future Work</a:t>
            </a:r>
            <a:endParaRPr lang="en-US" sz="3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</a:rPr>
              <a:t>Conclusion</a:t>
            </a:r>
            <a:endParaRPr lang="en-US" sz="2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dual-mode semantic architecture serves human and machine receivers over a noisy 6G-style channel.</a:t>
            </a:r>
            <a:endParaRPr lang="en-US" sz="2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Payload cut by 97.9% (human) and 99.98% (machine).</a:t>
            </a:r>
            <a:endParaRPr lang="en-US" sz="2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Human-mode PSNR degrades smoothly, from 26.34 dB at 25 dB SNR to 8.86 dB at −5 dB.</a:t>
            </a:r>
            <a:endParaRPr lang="en-US" sz="2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Machine accuracy is stable (71.7–75.0%) across SNR.</a:t>
            </a:r>
            <a:endParaRPr lang="en-US" sz="2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336792" y="16002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</a:rPr>
              <a:t>Future work</a:t>
            </a:r>
            <a:endParaRPr lang="en-US" sz="2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Larger multi-class datasets to close the train–test gap.</a:t>
            </a:r>
            <a:endParaRPr lang="en-US" sz="2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Fading channels and MIMO.</a:t>
            </a:r>
            <a:endParaRPr lang="en-US" sz="2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Trainable human-mode JSCC and a SwinJSCC backbone.</a:t>
            </a:r>
            <a:endParaRPr lang="en-US" sz="2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simulated digital baseline (JPEG/BPG + LDPC).</a:t>
            </a:r>
            <a:endParaRPr lang="en-US" sz="2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Adaptive rate control and SDR hardware validation.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[1] J. Huang, K. Yuan, C. Huang, K. Huang, “D²-JSCC: Digital deep joint source-channel coding for semantic communications,” IEEE J. Sel. Areas Commun., 2025, doi:10.1109/JSAC.2025.3531546.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[2] L. X. Nguyen, A. D. Raha, P. S. Aung, D. Niyato, Z. Han, C. S. Hong, “A contemporary survey on semantic communications: Theory of mind, generative AI, and deep JSCC,” IEEE Commun. Surveys Tuts., 2025, doi:10.1109/COMST.2025.3616973.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[3] K. Yang, S. Wang, J. Dai, X. Qin, K. Niu, P. Zhang, “SwinJSCC: Taming Swin Transformer for deep joint source-channel coding,” IEEE Trans. Cogn. Commun. Netw., 2025, pp. 90–104.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[4] Y. Diao, Y. Zhang, C. She, P. G. Zhao, E. L. Li, “Aligning task- and reconstruction-oriented communications for edge intelligence,” IEEE J. Sel. Areas Commun., 2025, doi:10.1109/JSAC.2025.3559121.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[5] “Deep reinforcement learning- and information bottleneck-enabled task-oriented semantic communication,” IEEE J. Sel. Areas Commun., 2025, doi:10.1109/JSAC.2025.3623199.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[6] “End-to-end learning for task-oriented semantic communications over MIMO channels: An information-theoretic framework,” IEEE J. Sel. Areas Commun., 2025, doi:10.1109/JSAC.2025.3531575.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[7] “Visual language model based cross-modal semantic communication systems,” IEEE Trans. Wireless Commun., vol. 24, no. 5, 2025, doi:10.1109/TWC.2025.3539526.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[8] “Semantics-guided diffusion for deep joint source-channel coding in wireless image transmission,” IEEE Trans. Wireless Commun., 2025, doi:10.1109/TWC.2025.3591456.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[9] “Rate splitting multiple access-enabled adaptive panoramic video semantic transmission,” IEEE Trans. Wireless Commun., 2025, doi:10.1109/TWC.2025.3570465.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[10] M. F. Zia, M. A. Ouameur, M. Bagaa, D. Massicotte, A. Ksentini, “A survey on explainable AI for semantic communication: Architecture, challenges, and future opportunities,” Comput. Netw., 2026, doi:10.1016/j.comnet.2026.112142.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[11] K. Jain, P. Krishnan, P. Pachiyannan, L. Jaganathan, M. A. Khan, Y. Li, “Toward smart 5G and 6G: Standardization of AI-native network architectures and semantic communication protocols,” IEEE Commun. Standards Mag., 2025.</a:t>
            </a:r>
            <a:endParaRPr lang="en-US" sz="16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[12] M. Xu et al., “Semantic-aided parallel image transmission compatible with practical system,” IEEE Trans. Wireless Commun., 2025.</a:t>
            </a:r>
            <a:endParaRPr lang="en-US" sz="16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[13] “Semantic prior aided channel-adaptive equalizing and de-noising semantic communication system with latent diffusion model,” IEEE Trans. Wireless Commun., vol. 24, no. 6, pp. 4614–4630, 2025.</a:t>
            </a:r>
            <a:endParaRPr lang="en-US" sz="16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[14] “Semantic base enabled image transmission with fine-grained HARQ,” IEEE Trans. Wireless Commun., vol. 24, no. 4, pp. 3606–3622, 2025.</a:t>
            </a:r>
            <a:endParaRPr lang="en-US" sz="16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[15] [Add authors], “Generative semantic communication: Architectures, technologies, and applications,” Engineering, 2025.</a:t>
            </a:r>
            <a:endParaRPr lang="en-US" sz="16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[16] [Add authors], “Generative AI-driven semantic communication networks: Architecture, technologies and applications”, 2025, pp. 27–47.</a:t>
            </a:r>
            <a:endParaRPr lang="en-US" sz="16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[17] [Add authors], “Semantic successive refinement: A generative AI-aided semantic communication framework”, 2025, pp. 687–699.</a:t>
            </a:r>
            <a:endParaRPr lang="en-US" sz="16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[18] Z. Qin, J. Ying, G. Xin, X. Tao, “Ten challenges in semantic communications”, 2025.</a:t>
            </a:r>
            <a:endParaRPr lang="en-US" sz="16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[19] R. Gu, W. Xu, Z. Yang, D. Niyato, A. Yener, “Task-oriented low-label semantic communication with self-supervised learning</a:t>
            </a:r>
            <a:r>
              <a:rPr lang="en-US" sz="1400" dirty="0"/>
              <a:t>”</a:t>
            </a:r>
            <a:r>
              <a:rPr lang="en-US" sz="1400" dirty="0">
                <a:solidFill>
                  <a:schemeClr val="tx1"/>
                </a:solidFill>
              </a:rPr>
              <a:t>, 2025.</a:t>
            </a:r>
            <a:endParaRPr lang="en-US" sz="16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[20] L. Guo, W. Chen, Y. Sun, B. Ai, N. Pappas, T. Quek, “Diffusion-driven semantic communication for generative models with bandwidth constraints”, 2025.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05840" y="237744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Light">
  <a:themeElements>
    <a:clrScheme name="Minimal Light">
      <a:dk1>
        <a:srgbClr val="1F2933"/>
      </a:dk1>
      <a:lt1>
        <a:srgbClr val="FFFFFF"/>
      </a:lt1>
      <a:dk2>
        <a:srgbClr val="52606D"/>
      </a:dk2>
      <a:lt2>
        <a:srgbClr val="F3F6F9"/>
      </a:lt2>
      <a:accent1>
        <a:srgbClr val="0173B2"/>
      </a:accent1>
      <a:accent2>
        <a:srgbClr val="DE8F05"/>
      </a:accent2>
      <a:accent3>
        <a:srgbClr val="029E73"/>
      </a:accent3>
      <a:accent4>
        <a:srgbClr val="D55E00"/>
      </a:accent4>
      <a:accent5>
        <a:srgbClr val="56B4E9"/>
      </a:accent5>
      <a:accent6>
        <a:srgbClr val="CC78BC"/>
      </a:accent6>
      <a:hlink>
        <a:srgbClr val="0173B2"/>
      </a:hlink>
      <a:folHlink>
        <a:srgbClr val="7A5195"/>
      </a:folHlink>
    </a:clrScheme>
    <a:fontScheme name="Minimal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2895</Words>
  <Application>Microsoft Office PowerPoint</Application>
  <PresentationFormat>Widescreen</PresentationFormat>
  <Paragraphs>260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Minimal Light</vt:lpstr>
      <vt:lpstr>Task Aware Dynamic Semantic Compression Framework for 6G Deep JSCC</vt:lpstr>
      <vt:lpstr>Introduction</vt:lpstr>
      <vt:lpstr>Literature Review: Foundations, Surveys and Deep JSCC</vt:lpstr>
      <vt:lpstr>Literature Review: Task-Oriented and Generative Approaches</vt:lpstr>
      <vt:lpstr>Research Gap</vt:lpstr>
      <vt:lpstr>Project Objectives</vt:lpstr>
      <vt:lpstr>Implementation Details</vt:lpstr>
      <vt:lpstr>Block Diagram</vt:lpstr>
      <vt:lpstr>System Overview</vt:lpstr>
      <vt:lpstr>System Overview: Receiver Branches</vt:lpstr>
      <vt:lpstr>Design: Semantic Encoder and Classifier (Machine Mode)</vt:lpstr>
      <vt:lpstr>Methodology</vt:lpstr>
      <vt:lpstr>Algorithm</vt:lpstr>
      <vt:lpstr>Novelty</vt:lpstr>
      <vt:lpstr>Results 1: Human-Mode Reconstruction</vt:lpstr>
      <vt:lpstr>Results 2: Performance versus SNR</vt:lpstr>
      <vt:lpstr>Results 3: Training Behavior and Confusion Matrix</vt:lpstr>
      <vt:lpstr>Results 4: Graceful Degradation vs Digital Cliff</vt:lpstr>
      <vt:lpstr>Results 5: Bandwidth Consumption</vt:lpstr>
      <vt:lpstr>SDG Mapping</vt:lpstr>
      <vt:lpstr>Conclusion and Future Work</vt:lpstr>
      <vt:lpstr>References</vt:lpstr>
      <vt:lpstr>References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Bandwidth-Optimized Dual-Mode Semantic Communication for 6G</dc:title>
  <dc:subject>PptxGenJS Presentation</dc:subject>
  <dc:creator>PptxGenJS</dc:creator>
  <cp:lastModifiedBy>Harshal Yadav</cp:lastModifiedBy>
  <cp:revision>56</cp:revision>
  <dcterms:created xsi:type="dcterms:W3CDTF">2026-10-21T19:17:52Z</dcterms:created>
  <dcterms:modified xsi:type="dcterms:W3CDTF">2026-10-24T04:34:18Z</dcterms:modified>
</cp:coreProperties>
</file>